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7FE34-0EAF-5C08-40CF-D0AF38E87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D4D5C2-160E-8AD9-383A-889BA45074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213B3-17E9-85D7-21EE-2094BC197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5DF1-5ED7-E438-7CF4-EB1D66FF9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86B76-B5AC-AABE-AFA8-6F7780FDE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20612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41AD2-426D-ADD4-9269-6CB43C9A2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2DE07-A1C7-7EA3-1FC7-ACD003E72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24D99-78B7-2215-E3BE-85C49C179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76C75-07ED-3568-D442-6F144E4CB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63737-12E1-7419-2325-E705E94A2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56328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EF5AE-AE9D-B6FC-EF36-BCCC20B82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77929-4DC4-9213-BFC0-2BBDE2DBA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3753E-DB33-486A-C34F-9F9A5E07B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D9E60-ABCA-8859-8DB3-E93138F5D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A04C1-07AE-D7F2-A9CB-1A8864B03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3815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FACB2-3D47-3334-5260-959F7C1BB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C26D0-50E8-F760-6F9A-571A196DAA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EC5E9-81A2-472A-303C-478A1D07B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F156B-4265-12B1-E45F-4D3D19B76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F0022-A925-C5EE-DE8C-970FEC5D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07628-6846-56A3-14B7-433546F32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0025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4E6CD-839C-93B7-E82A-716B1AF8B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7E4B8-923B-72FC-E467-5F4265564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1DEEEB-99CC-669D-ACF1-303EE64E5C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C24836-8EB7-0F58-A1F8-D75F5E03C3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C71653-4072-38FF-BC8F-4CCC726DA9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608349-8745-9C26-842E-A488BA94D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793AFE-311A-D68D-2F00-EB019F9FA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649F3A-94DD-09EC-FD3F-C2644F9C9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60830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8F697-8DBC-1EE1-ED6C-4FF56C65F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048FF5-33F3-E7E4-ED09-AC74881DF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8C468-49DA-F9C4-5ABF-7DB44EA44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FD1C45-B290-F9E3-12B9-11767E40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69947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C1156A-F2A9-3097-CEE0-4EA0E8905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CCCECB-DD7D-BEAB-86C1-B86946C0C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F2966B-5333-3AFA-4967-CB598B059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91179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002A0-3A8A-C2FB-8CFE-0F3F685FB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C220A-07D4-75EF-2F10-566A55029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2DA65B-C1DF-22FF-8268-26A4AAE5A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C05941-94C6-F9C0-EDA4-4A6900E5A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9E48A-F917-05F8-CE08-A98B8FAD8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B5074A-7F29-041B-2E3E-AD912D96B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92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5789E-3789-1096-EF56-67E60B36A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462D0B-2A94-8237-1EB9-9161448429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A469E3-2F0F-0D8E-F5CE-9A28108CFF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BBFF8-0635-6B98-7F19-3898E9D6A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23231-C70E-DED0-D66F-1D6BC78AE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DB474-637B-4421-0AC0-A02379F4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7698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8222-0D45-03E1-7DE9-FC3CF99F9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1D9222-2233-E982-1E26-F29242E3FB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05F528-56D1-5E24-768C-E1B3BDB8C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B08B5-2BD2-D289-C013-874AF1A47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2F940-7934-47DE-8781-AA67CD2E0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65387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B493C-AD50-B762-7861-905DFA4ED0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C916B2-06B2-FD92-E0F8-99A7855D4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10E5A9-A0F0-F00F-74FF-2C528DD27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CC05F9-3B90-7F11-F07E-CDEE5063E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826C-C997-64BC-7306-9CDD06F0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07646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945B4-D84A-88C8-056C-34A4FB304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D6B1A-2C55-C6E6-F7AF-1B33CB791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2AA95-E9DB-43DD-6A3E-AF505F43F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4EC1F-5F29-4B45-A1E9-4711EF87C999}" type="datetimeFigureOut">
              <a:rPr lang="en-PH" smtClean="0"/>
              <a:t>8/7/2026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4BE71-F7E7-2841-2674-177DF1362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1CDFC-5D39-EF4A-6D72-F3D75CECD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A8160B-192F-41E7-ADA4-0A7DED088FC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20179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C71C6F-324A-576E-9DD2-9E4D39A84F6E}"/>
              </a:ext>
            </a:extLst>
          </p:cNvPr>
          <p:cNvSpPr txBox="1"/>
          <p:nvPr/>
        </p:nvSpPr>
        <p:spPr>
          <a:xfrm>
            <a:off x="889000" y="1778000"/>
            <a:ext cx="965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100" b="1">
                <a:solidFill>
                  <a:srgbClr val="E8A84A"/>
                </a:solidFill>
                <a:latin typeface="Calibri" panose="020F0502020204030204" pitchFamily="34" charset="0"/>
              </a:rPr>
              <a:t>LABORATORY EXERCISE 3  -  E-COMMERCE BUSINESS PRESENCE ENHANCEMENT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84DCA-F88B-DC4E-3AE4-68847DFFA3DB}"/>
              </a:ext>
            </a:extLst>
          </p:cNvPr>
          <p:cNvSpPr txBox="1"/>
          <p:nvPr/>
        </p:nvSpPr>
        <p:spPr>
          <a:xfrm>
            <a:off x="889000" y="2286000"/>
            <a:ext cx="101600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400" b="1">
                <a:solidFill>
                  <a:srgbClr val="E8DFC8"/>
                </a:solidFill>
                <a:latin typeface="Georgia" panose="02040502050405020303" pitchFamily="18" charset="0"/>
              </a:rPr>
              <a:t>Strengthening the business</a:t>
            </a:r>
          </a:p>
          <a:p>
            <a:r>
              <a:rPr lang="en-US" sz="4400" b="1">
                <a:solidFill>
                  <a:srgbClr val="E8DFC8"/>
                </a:solidFill>
                <a:latin typeface="Georgia" panose="02040502050405020303" pitchFamily="18" charset="0"/>
              </a:rPr>
              <a:t>presence of Bencris</a:t>
            </a:r>
            <a:endParaRPr lang="en-PH" sz="4400" b="1">
              <a:solidFill>
                <a:srgbClr val="E8DFC8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BF8F18-AA9D-243E-FB46-0013CD96A15C}"/>
              </a:ext>
            </a:extLst>
          </p:cNvPr>
          <p:cNvCxnSpPr/>
          <p:nvPr/>
        </p:nvCxnSpPr>
        <p:spPr>
          <a:xfrm>
            <a:off x="889000" y="4089400"/>
            <a:ext cx="1905000" cy="0"/>
          </a:xfrm>
          <a:prstGeom prst="line">
            <a:avLst/>
          </a:prstGeom>
          <a:ln w="38100">
            <a:solidFill>
              <a:srgbClr val="E8A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6A445E5-54D4-5B6F-6B96-9BCBEFA2CF2D}"/>
              </a:ext>
            </a:extLst>
          </p:cNvPr>
          <p:cNvSpPr txBox="1"/>
          <p:nvPr/>
        </p:nvSpPr>
        <p:spPr>
          <a:xfrm>
            <a:off x="889000" y="4368800"/>
            <a:ext cx="10414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A9A795"/>
                </a:solidFill>
                <a:latin typeface="Calibri" panose="020F0502020204030204" pitchFamily="34" charset="0"/>
              </a:rPr>
              <a:t>Bencris is a local eatery inside Dasmariñas Bayan, Cavite. It has no website, no page or link a customer could open, no social media and no point-of-sale system. This presentation assesses how the business operates today and plans an online presence that costs nothing to run.</a:t>
            </a:r>
            <a:endParaRPr lang="en-PH" sz="1400">
              <a:solidFill>
                <a:srgbClr val="A9A795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1671D2-2920-D07A-985D-7BEA689585DF}"/>
              </a:ext>
            </a:extLst>
          </p:cNvPr>
          <p:cNvSpPr txBox="1"/>
          <p:nvPr/>
        </p:nvSpPr>
        <p:spPr>
          <a:xfrm>
            <a:off x="889000" y="57912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7B7A6C"/>
                </a:solidFill>
                <a:latin typeface="Calibri" panose="020F0502020204030204" pitchFamily="34" charset="0"/>
              </a:rPr>
              <a:t>Presented by [Member 1], [Member 2], [Member 3], [Member 4] and [Member 5]</a:t>
            </a:r>
            <a:endParaRPr lang="en-PH" sz="1100">
              <a:solidFill>
                <a:srgbClr val="7B7A6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972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EBD7B8-CEAF-532A-59C7-F35C0C11D12C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100" b="1">
                <a:solidFill>
                  <a:srgbClr val="C8442A"/>
                </a:solidFill>
                <a:latin typeface="Calibri" panose="020F0502020204030204" pitchFamily="34" charset="0"/>
              </a:rPr>
              <a:t>CLIENT BACKGROUND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DF0DF3-D913-348F-076D-20C130576D5E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A business with nothing online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14B033F-DF32-C95B-8E14-E95CA1122516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5C2096B-C34D-CACE-DE76-DC9C77AAE477}"/>
              </a:ext>
            </a:extLst>
          </p:cNvPr>
          <p:cNvSpPr txBox="1"/>
          <p:nvPr/>
        </p:nvSpPr>
        <p:spPr>
          <a:xfrm>
            <a:off x="762000" y="1828800"/>
            <a:ext cx="6350000" cy="191866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Bencris is a counter-service eatery inside Dasmariñas Bayan, Cavite.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There is no website, and no link a customer can open, save or send to a friend.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There is no social media, no point-of-sale, no inventory system, and no record of sales or profit.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•  Ordering is entirely manual: the diner walks up, looks at what is left in the trays, and orders whatever is still there.</a:t>
            </a:r>
            <a:endParaRPr lang="en-PH" sz="14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01B58CA-DFA2-B69F-617C-CD34B8291072}"/>
              </a:ext>
            </a:extLst>
          </p:cNvPr>
          <p:cNvSpPr/>
          <p:nvPr/>
        </p:nvSpPr>
        <p:spPr>
          <a:xfrm>
            <a:off x="7569200" y="1828800"/>
            <a:ext cx="3860800" cy="33020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C844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9A096E-637F-F3B6-EC6F-B82F44965841}"/>
              </a:ext>
            </a:extLst>
          </p:cNvPr>
          <p:cNvSpPr txBox="1"/>
          <p:nvPr/>
        </p:nvSpPr>
        <p:spPr>
          <a:xfrm>
            <a:off x="7874000" y="2108200"/>
            <a:ext cx="32766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C8442A"/>
                </a:solidFill>
                <a:latin typeface="Calibri" panose="020F0502020204030204" pitchFamily="34" charset="0"/>
              </a:rPr>
              <a:t>THE PROBLEM THE CLIENT NAMED</a:t>
            </a:r>
            <a:endParaRPr lang="en-PH" sz="10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1ED967-13CE-075E-1383-B2DA62C1153E}"/>
              </a:ext>
            </a:extLst>
          </p:cNvPr>
          <p:cNvSpPr txBox="1"/>
          <p:nvPr/>
        </p:nvSpPr>
        <p:spPr>
          <a:xfrm>
            <a:off x="7874000" y="2489200"/>
            <a:ext cx="3276600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A diner only finds out that the ulam they came for has run out once they are already standing at the counter.</a:t>
            </a:r>
          </a:p>
          <a:p>
            <a:endParaRPr lang="en-US" sz="1400">
              <a:solidFill>
                <a:srgbClr val="2A1810"/>
              </a:solidFill>
              <a:latin typeface="Calibri" panose="020F0502020204030204" pitchFamily="34" charset="0"/>
            </a:endParaRPr>
          </a:p>
          <a:p>
            <a:r>
              <a:rPr lang="en-US" sz="1400">
                <a:solidFill>
                  <a:srgbClr val="2A1810"/>
                </a:solidFill>
                <a:latin typeface="Calibri" panose="020F0502020204030204" pitchFamily="34" charset="0"/>
              </a:rPr>
              <a:t>The trip is wasted, and the customer often leaves without buying anything at all.</a:t>
            </a:r>
            <a:endParaRPr lang="en-PH" sz="14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FF3054-9A26-0519-058A-0AACDE52E906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C90915-1DDC-325A-7549-D37BF4421DA9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159118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00A13A-2AC7-2A82-EF44-904508439EB9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1  -  BUSINESS PRESENCE ASSESSMENT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8064FA-F54F-EACC-FDBF-444E81B9E0BE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Five strengths of the system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F184F5C-04B7-4FA5-34AE-1BE3004E6A2A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6ACDD7C-195D-BC93-7A7A-F99DE2FD692B}"/>
              </a:ext>
            </a:extLst>
          </p:cNvPr>
          <p:cNvSpPr txBox="1"/>
          <p:nvPr/>
        </p:nvSpPr>
        <p:spPr>
          <a:xfrm>
            <a:off x="762000" y="1905000"/>
            <a:ext cx="5080000" cy="19209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menu is always true. A dish hides itself once it runs out, so nobody makes a wasted trip.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Ordering suits everyone. A ticket code needs no account, and a free account adds order history, live tracking and loyalty rewards.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money side is safe and free to run. Totals and discount codes are worked out by the shop records, not the phone, and no payment company takes a cut.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51C972-1A34-DC2B-74AC-6225C45353A5}"/>
              </a:ext>
            </a:extLst>
          </p:cNvPr>
          <p:cNvSpPr txBox="1"/>
          <p:nvPr/>
        </p:nvSpPr>
        <p:spPr>
          <a:xfrm>
            <a:off x="6350000" y="1905000"/>
            <a:ext cx="5080000" cy="15526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owner can finally run and measure the business: takings, profit, best sellers, stock levels, what to buy, and prices and staff logins they can change themselves.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One shop on every screen. Website, counter, dashboard, three mobile apps and an installable Android app share one identity and one set of records, and update each other live.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D0B73-36F2-BAD1-9A1C-26E744EDF08B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9D18D-E2A4-96A3-8229-065637E2EDAC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0229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E3301-9878-4E79-E734-DE6CB123B574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1  -  BUSINESS PRESENCE ASSESSMENT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30EA63-F47C-4F40-F7EF-5BE71F303A99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2800" b="1">
                <a:solidFill>
                  <a:srgbClr val="2A1810"/>
                </a:solidFill>
                <a:latin typeface="Georgia" panose="02040502050405020303" pitchFamily="18" charset="0"/>
              </a:rPr>
              <a:t>Five opportunities that remain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6DF774C-B59E-1C06-2EC8-5F85E7C4E779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B35333E-5B2A-CF87-B84A-7B327374B7F2}"/>
              </a:ext>
            </a:extLst>
          </p:cNvPr>
          <p:cNvSpPr txBox="1"/>
          <p:nvPr/>
        </p:nvSpPr>
        <p:spPr>
          <a:xfrm>
            <a:off x="762000" y="1905000"/>
            <a:ext cx="5080000" cy="19209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Nobody can find Bencris online. It is not published, so a search for a karinderya in the Bayan finds nothing and the shop still lives on passing foot traffic.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shop does not look like a real business yet. The address and contact number on the page are still placeholder text.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food does not look appetising. Every dish uses a stock picture, and several show the wrong food entirely.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56A8A7-2D72-7CA4-CCAA-5B44801006EF}"/>
              </a:ext>
            </a:extLst>
          </p:cNvPr>
          <p:cNvSpPr txBox="1"/>
          <p:nvPr/>
        </p:nvSpPr>
        <p:spPr>
          <a:xfrm>
            <a:off x="6350000" y="1905000"/>
            <a:ext cx="5080000" cy="107247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A first-time visitor sees no proof the food is good. Word of mouth is what this business runs on, and none of it is visible online.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There is no way to reach a customer once they leave. Every visit starts from scratch, so the business keeps winning the same customer again.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99357-7643-F5A7-3888-C578AD9660AF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38C4D3-D289-ABE8-E615-6BC49773F9CF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7522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C1E6B7-F409-04AB-CCB0-51D31751BDBF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2  -  BUSINESS PRESENCE IMPROVEMENT PLAN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B0858B-837D-96A5-10DF-895933AFBF43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What we will do next, and why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5AED4BD-D292-0439-DDDB-C319D204AC46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E86F2D3-B5FE-F0AE-AFE6-7FEF7343F9DE}"/>
              </a:ext>
            </a:extLst>
          </p:cNvPr>
          <p:cNvSpPr txBox="1"/>
          <p:nvPr/>
        </p:nvSpPr>
        <p:spPr>
          <a:xfrm>
            <a:off x="762000" y="1803400"/>
            <a:ext cx="10668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6B5546"/>
                </a:solidFill>
                <a:latin typeface="Calibri" panose="020F0502020204030204" pitchFamily="34" charset="0"/>
              </a:rPr>
              <a:t>Seven areas, each closing one weakness from Part 1. DONE is already built; NEXT is what remains. Everything here is free to run.</a:t>
            </a:r>
            <a:endParaRPr lang="en-PH" sz="13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9C2A2D3-EEB8-6B2E-C142-51A4BD858770}"/>
              </a:ext>
            </a:extLst>
          </p:cNvPr>
          <p:cNvSpPr/>
          <p:nvPr/>
        </p:nvSpPr>
        <p:spPr>
          <a:xfrm>
            <a:off x="762000" y="22352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3F899-EECE-AFE5-041F-7C35F47EA452}"/>
              </a:ext>
            </a:extLst>
          </p:cNvPr>
          <p:cNvSpPr txBox="1"/>
          <p:nvPr/>
        </p:nvSpPr>
        <p:spPr>
          <a:xfrm>
            <a:off x="990600" y="24384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Branding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527BC-078B-E641-1C77-1CCF7A5003F9}"/>
              </a:ext>
            </a:extLst>
          </p:cNvPr>
          <p:cNvSpPr txBox="1"/>
          <p:nvPr/>
        </p:nvSpPr>
        <p:spPr>
          <a:xfrm>
            <a:off x="990600" y="2794000"/>
            <a:ext cx="29718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DONE  One identity on every screen and all three apps, shop details stored once.</a:t>
            </a:r>
          </a:p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NEXT  Put the owner real address and contact in, and agree a mark and colour.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40F1ED-7B7C-C9A2-0A0E-876ADD387DBC}"/>
              </a:ext>
            </a:extLst>
          </p:cNvPr>
          <p:cNvSpPr/>
          <p:nvPr/>
        </p:nvSpPr>
        <p:spPr>
          <a:xfrm>
            <a:off x="4445000" y="22352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E94906-217E-81FB-0B14-68B79BACAD1E}"/>
              </a:ext>
            </a:extLst>
          </p:cNvPr>
          <p:cNvSpPr txBox="1"/>
          <p:nvPr/>
        </p:nvSpPr>
        <p:spPr>
          <a:xfrm>
            <a:off x="4673600" y="24384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UX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F3A71A-7994-4B53-4DA6-8242076F110E}"/>
              </a:ext>
            </a:extLst>
          </p:cNvPr>
          <p:cNvSpPr txBox="1"/>
          <p:nvPr/>
        </p:nvSpPr>
        <p:spPr>
          <a:xfrm>
            <a:off x="4673600" y="2794000"/>
            <a:ext cx="29718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DONE  Four taps to order, cart within thumb reach, menu search, one-tap reorder.</a:t>
            </a:r>
          </a:p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NEXT  Walk the whole path on a cheap phone on mobile data and fix what is slow.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5EB5585-85D8-DC33-1A10-4DA307084B64}"/>
              </a:ext>
            </a:extLst>
          </p:cNvPr>
          <p:cNvSpPr/>
          <p:nvPr/>
        </p:nvSpPr>
        <p:spPr>
          <a:xfrm>
            <a:off x="8128000" y="22352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6F0571-98D4-EE6D-2DF5-6F3B4BE8784D}"/>
              </a:ext>
            </a:extLst>
          </p:cNvPr>
          <p:cNvSpPr txBox="1"/>
          <p:nvPr/>
        </p:nvSpPr>
        <p:spPr>
          <a:xfrm>
            <a:off x="8356600" y="24384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SEO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3A203B-87AB-5EB4-78FE-4A3CC5613AD1}"/>
              </a:ext>
            </a:extLst>
          </p:cNvPr>
          <p:cNvSpPr txBox="1"/>
          <p:nvPr/>
        </p:nvSpPr>
        <p:spPr>
          <a:xfrm>
            <a:off x="8356600" y="2794000"/>
            <a:ext cx="29718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DONE  Real text naming the shop and the area, dishes in Tagalog and English.</a:t>
            </a:r>
          </a:p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NEXT  Publish with a real address, and add hours and prices in the form search engines read.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1E490BF-DE02-93B7-7743-B1B9F88FC531}"/>
              </a:ext>
            </a:extLst>
          </p:cNvPr>
          <p:cNvSpPr/>
          <p:nvPr/>
        </p:nvSpPr>
        <p:spPr>
          <a:xfrm>
            <a:off x="762000" y="42926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F0D06B-242E-7C9C-5A07-B3610B991258}"/>
              </a:ext>
            </a:extLst>
          </p:cNvPr>
          <p:cNvSpPr txBox="1"/>
          <p:nvPr/>
        </p:nvSpPr>
        <p:spPr>
          <a:xfrm>
            <a:off x="990600" y="44958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Product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AE49B0-6F0F-5FD4-B8D7-EE7C39618875}"/>
              </a:ext>
            </a:extLst>
          </p:cNvPr>
          <p:cNvSpPr txBox="1"/>
          <p:nvPr/>
        </p:nvSpPr>
        <p:spPr>
          <a:xfrm>
            <a:off x="990600" y="4851400"/>
            <a:ext cx="29718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DONE  Bestseller, Only a few left and Sold out labels from real sales and stock.</a:t>
            </a:r>
          </a:p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NEXT  Photograph every dish in daylight and replace all the stock pictures.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0463E65-6244-B406-C8E3-2B6710CBEEC5}"/>
              </a:ext>
            </a:extLst>
          </p:cNvPr>
          <p:cNvSpPr/>
          <p:nvPr/>
        </p:nvSpPr>
        <p:spPr>
          <a:xfrm>
            <a:off x="4445000" y="42926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07247C-44FE-E0C4-AD51-EA054605B475}"/>
              </a:ext>
            </a:extLst>
          </p:cNvPr>
          <p:cNvSpPr txBox="1"/>
          <p:nvPr/>
        </p:nvSpPr>
        <p:spPr>
          <a:xfrm>
            <a:off x="4673600" y="44958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Trust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2D0010-37E3-F391-B4EE-B969F4AA16A7}"/>
              </a:ext>
            </a:extLst>
          </p:cNvPr>
          <p:cNvSpPr txBox="1"/>
          <p:nvPr/>
        </p:nvSpPr>
        <p:spPr>
          <a:xfrm>
            <a:off x="4673600" y="4851400"/>
            <a:ext cx="29718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DONE  Hours, address and open-now up front, trust pages, and ratings only a paid ticket can leave.</a:t>
            </a:r>
          </a:p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NEXT  Gather the first real ratings once the shop is live.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8DAACF0-BD60-18DD-B031-9D4155D0B4FC}"/>
              </a:ext>
            </a:extLst>
          </p:cNvPr>
          <p:cNvSpPr/>
          <p:nvPr/>
        </p:nvSpPr>
        <p:spPr>
          <a:xfrm>
            <a:off x="8128000" y="4292600"/>
            <a:ext cx="3429000" cy="18796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8386-3D92-279B-E958-2306599BA0FC}"/>
              </a:ext>
            </a:extLst>
          </p:cNvPr>
          <p:cNvSpPr txBox="1"/>
          <p:nvPr/>
        </p:nvSpPr>
        <p:spPr>
          <a:xfrm>
            <a:off x="8356600" y="4495800"/>
            <a:ext cx="297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400" b="1">
                <a:solidFill>
                  <a:srgbClr val="2A1810"/>
                </a:solidFill>
                <a:latin typeface="Georgia" panose="02040502050405020303" pitchFamily="18" charset="0"/>
              </a:rPr>
              <a:t>Marketing and engagement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D92232-8C25-A2EF-73CB-C34C9BE80D7B}"/>
              </a:ext>
            </a:extLst>
          </p:cNvPr>
          <p:cNvSpPr txBox="1"/>
          <p:nvPr/>
        </p:nvSpPr>
        <p:spPr>
          <a:xfrm>
            <a:off x="8356600" y="4851400"/>
            <a:ext cx="29718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DONE  Discount codes, a printable QR poster, accounts with history and loyalty.</a:t>
            </a:r>
          </a:p>
          <a:p>
            <a:r>
              <a:rPr lang="en-US" sz="1100">
                <a:solidFill>
                  <a:srgbClr val="6B5546"/>
                </a:solidFill>
                <a:latin typeface="Calibri" panose="020F0502020204030204" pitchFamily="34" charset="0"/>
              </a:rPr>
              <a:t>NEXT  Put the poster up, run a quiet-hours discount, and notify when food is ready.</a:t>
            </a:r>
            <a:endParaRPr lang="en-PH" sz="11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A32DEC-B9D4-1949-EA48-8C71604F5AD7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6B2E1C-B9F5-2838-9CFB-B99E6B798C35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6098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78943B-EDE7-825A-963E-82230F0AC81B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3  -  CUSTOMER JOURNEY MAPPING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DCE768-3F5E-A4D9-17AC-887E72741F75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Fifteen stages, and two loops that close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B0CD6F3-B89C-D4EA-A553-1C4A24EC37EE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DE9EA2-5B78-0D0F-E1EC-C170B05B3F16}"/>
              </a:ext>
            </a:extLst>
          </p:cNvPr>
          <p:cNvSpPr txBox="1"/>
          <p:nvPr/>
        </p:nvSpPr>
        <p:spPr>
          <a:xfrm>
            <a:off x="762000" y="2032000"/>
            <a:ext cx="4826000" cy="252928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Discovery now has three doors: a link forwarded in a chat, the printed QR poster on the wall, or a web search.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The journey branches at payment. A GCash diner uploads their receipt, while a cash diner goes straight to the counter.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Waiting is no longer guesswork. The diner watches the order move from preparing to ready.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Two loops close the journey: a reorder returns the diner to Browse, and a shared receipt or a scanned poster starts a new person at Discover.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9C39B2-C1FD-6EC0-78EF-329AAD98F6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0109" y="1244600"/>
            <a:ext cx="5583891" cy="5029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B39E42-0970-A314-E6DA-704AD7B6B87F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469A98-2165-1094-3CDE-A50C63B2E792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23798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6C03E5-6385-8BB7-CAE0-81A0C450546F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4  -  WEBSITE OPERATIONS PLAN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1D3CDC-DA29-2533-E078-D72EF8D06451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Developing and launching the website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B59C3BF-7B94-D50A-4541-CE1AEAE048FA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791BB73-7653-2272-DB68-A9A1F2FE43C7}"/>
              </a:ext>
            </a:extLst>
          </p:cNvPr>
          <p:cNvSpPr txBox="1"/>
          <p:nvPr/>
        </p:nvSpPr>
        <p:spPr>
          <a:xfrm>
            <a:off x="762000" y="1778000"/>
            <a:ext cx="1066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B5546"/>
                </a:solidFill>
                <a:latin typeface="Calibri" panose="020F0502020204030204" pitchFamily="34" charset="0"/>
              </a:rPr>
              <a:t>Every activity below is owned by a named member, has a timeline, and leaves evidence behind.</a:t>
            </a:r>
            <a:endParaRPr lang="en-PH" sz="12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63A1B57-9366-9BA9-FDE9-518CF38FD6BF}"/>
              </a:ext>
            </a:extLst>
          </p:cNvPr>
          <p:cNvSpPr/>
          <p:nvPr/>
        </p:nvSpPr>
        <p:spPr>
          <a:xfrm>
            <a:off x="762000" y="215900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650933-B486-A662-3638-8BF367A35053}"/>
              </a:ext>
            </a:extLst>
          </p:cNvPr>
          <p:cNvSpPr txBox="1"/>
          <p:nvPr/>
        </p:nvSpPr>
        <p:spPr>
          <a:xfrm>
            <a:off x="990600" y="23876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C8442A"/>
                </a:solidFill>
                <a:latin typeface="Calibri" panose="020F0502020204030204" pitchFamily="34" charset="0"/>
              </a:rPr>
              <a:t>DEVELOPMENT ACTIVITIES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63804-7CA4-6EA0-8678-150905438851}"/>
              </a:ext>
            </a:extLst>
          </p:cNvPr>
          <p:cNvSpPr txBox="1"/>
          <p:nvPr/>
        </p:nvSpPr>
        <p:spPr>
          <a:xfrm>
            <a:off x="990600" y="2692400"/>
            <a:ext cx="29718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Interview the owner and watch a full service at the store.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Keep the ordering rules in the shop records, not on the phone.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Build the diner site, the counter screen and the owner dashboard.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Add accounts, live order tracking, loyalty and stock control.</a:t>
            </a:r>
            <a:endParaRPr lang="en-PH" sz="11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AFB7B0-B88B-A5B8-B8BB-3E4308A66FD4}"/>
              </a:ext>
            </a:extLst>
          </p:cNvPr>
          <p:cNvSpPr txBox="1"/>
          <p:nvPr/>
        </p:nvSpPr>
        <p:spPr>
          <a:xfrm>
            <a:off x="990600" y="50292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B5546"/>
                </a:solidFill>
                <a:latin typeface="Calibri" panose="020F0502020204030204" pitchFamily="34" charset="0"/>
              </a:rPr>
              <a:t>[Member 1] and [Member 2]</a:t>
            </a:r>
            <a:endParaRPr lang="en-PH" sz="1000" b="1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2E12CC5-E60C-2EC9-9372-96DB8A6A5B14}"/>
              </a:ext>
            </a:extLst>
          </p:cNvPr>
          <p:cNvSpPr/>
          <p:nvPr/>
        </p:nvSpPr>
        <p:spPr>
          <a:xfrm>
            <a:off x="4445000" y="215900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5B3048-7A50-F34A-8694-977B15FB737F}"/>
              </a:ext>
            </a:extLst>
          </p:cNvPr>
          <p:cNvSpPr txBox="1"/>
          <p:nvPr/>
        </p:nvSpPr>
        <p:spPr>
          <a:xfrm>
            <a:off x="4673600" y="23876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C8442A"/>
                </a:solidFill>
                <a:latin typeface="Calibri" panose="020F0502020204030204" pitchFamily="34" charset="0"/>
              </a:rPr>
              <a:t>LAUNCH ACTIVITIES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0EECA3-9498-307C-A64F-30075B48DE5A}"/>
              </a:ext>
            </a:extLst>
          </p:cNvPr>
          <p:cNvSpPr txBox="1"/>
          <p:nvPr/>
        </p:nvSpPr>
        <p:spPr>
          <a:xfrm>
            <a:off x="4673600" y="2692400"/>
            <a:ext cx="2971800" cy="118494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Photograph every dish and write Tagalog and English descriptions.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Make the site findable and give shared links a proper preview.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Build the three mobile apps, the installable app and the QR poster.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Publish to free hosting with a public address.</a:t>
            </a:r>
            <a:endParaRPr lang="en-PH" sz="11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E2149-1C4F-3BEE-31E8-8B7570220D34}"/>
              </a:ext>
            </a:extLst>
          </p:cNvPr>
          <p:cNvSpPr txBox="1"/>
          <p:nvPr/>
        </p:nvSpPr>
        <p:spPr>
          <a:xfrm>
            <a:off x="4673600" y="50292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6B5546"/>
                </a:solidFill>
                <a:latin typeface="Calibri" panose="020F0502020204030204" pitchFamily="34" charset="0"/>
              </a:rPr>
              <a:t>[Member 3]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5E0B1BC-1D53-22A2-477E-119D34B4EE81}"/>
              </a:ext>
            </a:extLst>
          </p:cNvPr>
          <p:cNvSpPr/>
          <p:nvPr/>
        </p:nvSpPr>
        <p:spPr>
          <a:xfrm>
            <a:off x="8128000" y="215900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FBF4E3"/>
          </a:solidFill>
          <a:ln w="12700">
            <a:solidFill>
              <a:srgbClr val="D8C8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A4BD1A-84DD-A748-238F-2B1A8F8D7246}"/>
              </a:ext>
            </a:extLst>
          </p:cNvPr>
          <p:cNvSpPr txBox="1"/>
          <p:nvPr/>
        </p:nvSpPr>
        <p:spPr>
          <a:xfrm>
            <a:off x="8356600" y="23876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000" b="1">
                <a:solidFill>
                  <a:srgbClr val="C8442A"/>
                </a:solidFill>
                <a:latin typeface="Calibri" panose="020F0502020204030204" pitchFamily="34" charset="0"/>
              </a:rPr>
              <a:t>TESTING AND HANDOVER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2B4EB5-5209-2EBA-7B3C-44E0741A9E28}"/>
              </a:ext>
            </a:extLst>
          </p:cNvPr>
          <p:cNvSpPr txBox="1"/>
          <p:nvPr/>
        </p:nvSpPr>
        <p:spPr>
          <a:xfrm>
            <a:off x="8356600" y="2692400"/>
            <a:ext cx="2971800" cy="118494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Run the automated checks across the whole system.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Walk the whole path by hand on a real phone, browsing to collecting.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Train the owner and leave a one-page cheat sheet behind.</a:t>
            </a:r>
          </a:p>
          <a:p>
            <a:r>
              <a:rPr lang="en-US" sz="1100">
                <a:solidFill>
                  <a:srgbClr val="2A1810"/>
                </a:solidFill>
                <a:latin typeface="Calibri" panose="020F0502020204030204" pitchFamily="34" charset="0"/>
              </a:rPr>
              <a:t>Produce the worksheet, the journey diagram and this deck.</a:t>
            </a:r>
            <a:endParaRPr lang="en-PH" sz="11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E41BAD-8CBD-A1E2-2D27-A0238809A3BE}"/>
              </a:ext>
            </a:extLst>
          </p:cNvPr>
          <p:cNvSpPr txBox="1"/>
          <p:nvPr/>
        </p:nvSpPr>
        <p:spPr>
          <a:xfrm>
            <a:off x="8356600" y="5029200"/>
            <a:ext cx="2971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B5546"/>
                </a:solidFill>
                <a:latin typeface="Calibri" panose="020F0502020204030204" pitchFamily="34" charset="0"/>
              </a:rPr>
              <a:t>[Member 4] and [Member 5]</a:t>
            </a:r>
            <a:endParaRPr lang="en-PH" sz="1000" b="1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20B7EA-DFED-BE17-06BD-70BE79D98ABE}"/>
              </a:ext>
            </a:extLst>
          </p:cNvPr>
          <p:cNvSpPr txBox="1"/>
          <p:nvPr/>
        </p:nvSpPr>
        <p:spPr>
          <a:xfrm>
            <a:off x="762000" y="5588000"/>
            <a:ext cx="1066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B5546"/>
                </a:solidFill>
                <a:latin typeface="Calibri" panose="020F0502020204030204" pitchFamily="34" charset="0"/>
              </a:rPr>
              <a:t>Timeline: four weeks, running from the week of 4 August 2026.</a:t>
            </a:r>
            <a:endParaRPr lang="en-PH" sz="12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ED8602-894A-E173-5E46-0B5035C2F07D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0689B-7AFE-1F5B-E655-7CE48195575F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80637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AD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5CCFFA-D61E-A7F3-B02C-428DE9FFBC55}"/>
              </a:ext>
            </a:extLst>
          </p:cNvPr>
          <p:cNvSpPr txBox="1"/>
          <p:nvPr/>
        </p:nvSpPr>
        <p:spPr>
          <a:xfrm>
            <a:off x="762000" y="508000"/>
            <a:ext cx="10668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C8442A"/>
                </a:solidFill>
                <a:latin typeface="Calibri" panose="020F0502020204030204" pitchFamily="34" charset="0"/>
              </a:rPr>
              <a:t>PART 4  -  WEBSITE OPERATIONS PLAN</a:t>
            </a:r>
            <a:endParaRPr lang="en-PH" sz="1100" b="1">
              <a:solidFill>
                <a:srgbClr val="C8442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D4254-1259-4332-E842-821E53331A15}"/>
              </a:ext>
            </a:extLst>
          </p:cNvPr>
          <p:cNvSpPr txBox="1"/>
          <p:nvPr/>
        </p:nvSpPr>
        <p:spPr>
          <a:xfrm>
            <a:off x="762000" y="787400"/>
            <a:ext cx="10668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2A1810"/>
                </a:solidFill>
                <a:latin typeface="Georgia" panose="02040502050405020303" pitchFamily="18" charset="0"/>
              </a:rPr>
              <a:t>Keeping the website running after handover</a:t>
            </a:r>
            <a:endParaRPr lang="en-PH" sz="28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A16074-B22C-B4B9-554E-AC780FAB3E3E}"/>
              </a:ext>
            </a:extLst>
          </p:cNvPr>
          <p:cNvCxnSpPr/>
          <p:nvPr/>
        </p:nvCxnSpPr>
        <p:spPr>
          <a:xfrm>
            <a:off x="762000" y="1397000"/>
            <a:ext cx="1524000" cy="0"/>
          </a:xfrm>
          <a:prstGeom prst="line">
            <a:avLst/>
          </a:prstGeom>
          <a:ln w="31750">
            <a:solidFill>
              <a:srgbClr val="C84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0186A35-F90B-6581-0689-622B6210AB6E}"/>
              </a:ext>
            </a:extLst>
          </p:cNvPr>
          <p:cNvSpPr txBox="1"/>
          <p:nvPr/>
        </p:nvSpPr>
        <p:spPr>
          <a:xfrm>
            <a:off x="762000" y="1905000"/>
            <a:ext cx="5080000" cy="168084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Daily: confirm the owner has marked today's dishes available and set stock counts, so the site never advertises food that has already run out.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Weekly: clear every payment the cashier flagged for review against the real GCash history, so no sale stays unexplained.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Weekly: read best sellers, slow movers and net profit, then tell the owner which dishes to cook more or less of.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F359A1-774B-09BB-6632-6C771288C06B}"/>
              </a:ext>
            </a:extLst>
          </p:cNvPr>
          <p:cNvSpPr txBox="1"/>
          <p:nvPr/>
        </p:nvSpPr>
        <p:spPr>
          <a:xfrm>
            <a:off x="6350000" y="1905000"/>
            <a:ext cx="5080000" cy="156901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Weekly: publish genuine ratings and reply to any complaint.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choose the next discount code, set its amount and expiry, and announce it.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export the records and keep the change history safe.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lang="en-US" sz="1300">
                <a:solidFill>
                  <a:srgbClr val="2A1810"/>
                </a:solidFill>
                <a:latin typeface="Calibri" panose="020F0502020204030204" pitchFamily="34" charset="0"/>
              </a:rPr>
              <a:t>•  Monthly: re-run the access checks and change the staff passwords.</a:t>
            </a:r>
            <a:endParaRPr lang="en-PH" sz="1300">
              <a:solidFill>
                <a:srgbClr val="2A1810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3C8483-10D0-C1BD-4EB7-1887C01B4525}"/>
              </a:ext>
            </a:extLst>
          </p:cNvPr>
          <p:cNvSpPr txBox="1"/>
          <p:nvPr/>
        </p:nvSpPr>
        <p:spPr>
          <a:xfrm>
            <a:off x="762000" y="5613400"/>
            <a:ext cx="10668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2A1810"/>
                </a:solidFill>
                <a:latin typeface="Georgia" panose="02040502050405020303" pitchFamily="18" charset="0"/>
              </a:rPr>
              <a:t>Cost to keep the website running: nothing per month. No payment gateway, no paid hosting, and no printer.</a:t>
            </a:r>
            <a:endParaRPr lang="en-PH" sz="1400" b="1">
              <a:solidFill>
                <a:srgbClr val="2A1810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911D4-8E77-35B6-06DD-AEE944AADB29}"/>
              </a:ext>
            </a:extLst>
          </p:cNvPr>
          <p:cNvSpPr txBox="1"/>
          <p:nvPr/>
        </p:nvSpPr>
        <p:spPr>
          <a:xfrm>
            <a:off x="762000" y="6451600"/>
            <a:ext cx="660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>
                <a:solidFill>
                  <a:srgbClr val="6B5546"/>
                </a:solidFill>
                <a:latin typeface="Calibri" panose="020F0502020204030204" pitchFamily="34" charset="0"/>
              </a:rPr>
              <a:t>Laboratory Exercise 3 - Bencris - Web Commercialization and E-Commerce</a:t>
            </a:r>
            <a:endParaRPr lang="en-PH" sz="900">
              <a:solidFill>
                <a:srgbClr val="6B5546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F9021-7508-B09F-DA7B-0197EE69F0FF}"/>
              </a:ext>
            </a:extLst>
          </p:cNvPr>
          <p:cNvSpPr txBox="1"/>
          <p:nvPr/>
        </p:nvSpPr>
        <p:spPr>
          <a:xfrm>
            <a:off x="10947400" y="6451600"/>
            <a:ext cx="4826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900" b="1">
                <a:solidFill>
                  <a:srgbClr val="6B5546"/>
                </a:solidFill>
                <a:latin typeface="Consolas" panose="020B0609020204030204" pitchFamily="49" charset="0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997399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FDCD85-D509-E1F1-8F9C-AD821B33AE6A}"/>
              </a:ext>
            </a:extLst>
          </p:cNvPr>
          <p:cNvSpPr txBox="1"/>
          <p:nvPr/>
        </p:nvSpPr>
        <p:spPr>
          <a:xfrm>
            <a:off x="889000" y="2159000"/>
            <a:ext cx="1016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200" b="1">
                <a:solidFill>
                  <a:srgbClr val="E8A84A"/>
                </a:solidFill>
                <a:latin typeface="Calibri" panose="020F0502020204030204" pitchFamily="34" charset="0"/>
              </a:rPr>
              <a:t>FROM NOTHING ONLINE 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5E56EC-122D-6D4E-F25E-749203A877C7}"/>
              </a:ext>
            </a:extLst>
          </p:cNvPr>
          <p:cNvSpPr txBox="1"/>
          <p:nvPr/>
        </p:nvSpPr>
        <p:spPr>
          <a:xfrm>
            <a:off x="889000" y="2616200"/>
            <a:ext cx="10414000" cy="116955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800" b="1">
                <a:solidFill>
                  <a:srgbClr val="E8DFC8"/>
                </a:solidFill>
                <a:latin typeface="Georgia" panose="02040502050405020303" pitchFamily="18" charset="0"/>
              </a:rPr>
              <a:t>A menu that tells the truth</a:t>
            </a:r>
          </a:p>
          <a:p>
            <a:r>
              <a:rPr lang="en-US" sz="3800" b="1">
                <a:solidFill>
                  <a:srgbClr val="E8DFC8"/>
                </a:solidFill>
                <a:latin typeface="Georgia" panose="02040502050405020303" pitchFamily="18" charset="0"/>
              </a:rPr>
              <a:t>before anyone leaves home.</a:t>
            </a:r>
            <a:endParaRPr lang="en-PH" sz="3800" b="1">
              <a:solidFill>
                <a:srgbClr val="E8DFC8"/>
              </a:solidFill>
              <a:latin typeface="Georgia" panose="02040502050405020303" pitchFamily="18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E9285E8-2B9E-6F54-D3E8-3AA02313AD29}"/>
              </a:ext>
            </a:extLst>
          </p:cNvPr>
          <p:cNvCxnSpPr/>
          <p:nvPr/>
        </p:nvCxnSpPr>
        <p:spPr>
          <a:xfrm>
            <a:off x="889000" y="4648200"/>
            <a:ext cx="1905000" cy="0"/>
          </a:xfrm>
          <a:prstGeom prst="line">
            <a:avLst/>
          </a:prstGeom>
          <a:ln w="38100">
            <a:solidFill>
              <a:srgbClr val="E8A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B7E5C7C-E7AF-D476-8400-80EFE0921720}"/>
              </a:ext>
            </a:extLst>
          </p:cNvPr>
          <p:cNvSpPr txBox="1"/>
          <p:nvPr/>
        </p:nvSpPr>
        <p:spPr>
          <a:xfrm>
            <a:off x="889000" y="49530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A9A795"/>
                </a:solidFill>
                <a:latin typeface="Calibri" panose="020F0502020204030204" pitchFamily="34" charset="0"/>
              </a:rPr>
              <a:t>The live demonstration follows: browse the menu, place an order, settle it at the counter, and watch the sale appear on the owner dashboard.</a:t>
            </a:r>
            <a:endParaRPr lang="en-PH" sz="1400">
              <a:solidFill>
                <a:srgbClr val="A9A795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7C5B2-F3F4-4F6E-38A0-DB972FE54D5C}"/>
              </a:ext>
            </a:extLst>
          </p:cNvPr>
          <p:cNvSpPr txBox="1"/>
          <p:nvPr/>
        </p:nvSpPr>
        <p:spPr>
          <a:xfrm>
            <a:off x="889000" y="5791200"/>
            <a:ext cx="1041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PH" sz="1600" b="1">
                <a:solidFill>
                  <a:srgbClr val="E8A84A"/>
                </a:solidFill>
                <a:latin typeface="Georgia" panose="02040502050405020303" pitchFamily="18" charset="0"/>
              </a:rPr>
              <a:t>Salamat po.</a:t>
            </a:r>
          </a:p>
        </p:txBody>
      </p:sp>
    </p:spTree>
    <p:extLst>
      <p:ext uri="{BB962C8B-B14F-4D97-AF65-F5344CB8AC3E}">
        <p14:creationId xmlns:p14="http://schemas.microsoft.com/office/powerpoint/2010/main" val="838567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1410</Words>
  <Application>Microsoft Office PowerPoint</Application>
  <PresentationFormat>Custom</PresentationFormat>
  <Paragraphs>107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Canlapan, Jhon Kyle</dc:creator>
  <cp:lastModifiedBy>Canlapan, Jhon Kyle</cp:lastModifiedBy>
  <cp:revision>1</cp:revision>
  <dcterms:created xsi:type="dcterms:W3CDTF">2026-08-07T05:45:59Z</dcterms:created>
  <dcterms:modified xsi:type="dcterms:W3CDTF">2026-08-07T05:46:00Z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2026-08-07T05:45:59Z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a6f37aa4-3787-4dbe-9c99-3ace06fbce34</vt:lpwstr>
  </property>
  <property fmtid="{D5CDD505-2E9C-101B-9397-08002B2CF9AE}" pid="8" name="MSIP_Label_8a813f4b-519a-4481-a498-85770f517757_ContentBits">
    <vt:lpwstr>0</vt:lpwstr>
  </property>
  <property fmtid="{D5CDD505-2E9C-101B-9397-08002B2CF9AE}" pid="9" name="MSIP_Label_8a813f4b-519a-4481-a498-85770f517757_Tag">
    <vt:lpwstr>10, 3, 0, 1</vt:lpwstr>
  </property>
</Properties>
</file>