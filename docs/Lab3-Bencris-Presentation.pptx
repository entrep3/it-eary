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2B2A4-A6B5-FF8A-5D99-C11FB2D558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17F3C6-034B-EACD-1497-C799B82072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120FE-78E9-D8BF-F368-180742AFE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08E97-6EF3-448D-8F45-4AAD37A7D186}" type="datetimeFigureOut">
              <a:rPr lang="en-PH" smtClean="0"/>
              <a:t>8/6/2026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7ED6A7-2B39-3BC4-A0F7-BC8C6AB4B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7866F-B82C-5D6D-3248-92F2E5696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5F8A7-5DB9-4992-95EB-512B135CD058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22259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768F2-A69C-106C-E8F9-AA07EB34B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854B55-90D9-7D64-96DE-65F6447528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37471F-D127-BD25-5F7E-DC0675670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08E97-6EF3-448D-8F45-4AAD37A7D186}" type="datetimeFigureOut">
              <a:rPr lang="en-PH" smtClean="0"/>
              <a:t>8/6/2026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EC0407-A842-5D75-7E2A-F08F3CDE1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F7B643-A85D-E7CB-66B7-8EE6F95FD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5F8A7-5DB9-4992-95EB-512B135CD058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90967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3B858-99A8-D135-F456-D8E2FFBD9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AD6B24-E9B4-A696-4EF3-3B41DF75B2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D2DD75-7F2B-488F-5183-5C01AAE07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08E97-6EF3-448D-8F45-4AAD37A7D186}" type="datetimeFigureOut">
              <a:rPr lang="en-PH" smtClean="0"/>
              <a:t>8/6/2026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5388B-D599-A764-26FD-DF6F63E09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3DC8C-E3EC-80E0-5511-7E6F6A7F2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5F8A7-5DB9-4992-95EB-512B135CD058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7196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D6CA3-7E02-EB68-FFD9-5D3B5C2D8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56555-9DA6-CCF9-7D44-541623439E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FECCEA-AE92-9FC0-2D7A-CEBEE19FF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092D6F-48C1-11C6-51EC-C4984EB3CE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08E97-6EF3-448D-8F45-4AAD37A7D186}" type="datetimeFigureOut">
              <a:rPr lang="en-PH" smtClean="0"/>
              <a:t>8/6/2026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444067-F605-5EA7-9DEC-02BD6CB00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1594E7-E723-CCC6-56BD-411CF233F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5F8A7-5DB9-4992-95EB-512B135CD058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99535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C5C47-4F88-4E7C-02C8-7B8521A58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BF1339-DA73-09DD-B332-8A73EEB30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49523-135F-A7F6-BADF-67FA151B1A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2C5A64-5339-946F-C2F9-008F8BF582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DEE00E-4736-983B-1719-403B381C9C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A89D52-20AB-6FAE-18C4-1CBBEC368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08E97-6EF3-448D-8F45-4AAD37A7D186}" type="datetimeFigureOut">
              <a:rPr lang="en-PH" smtClean="0"/>
              <a:t>8/6/2026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B2D001-F21C-D780-B32A-21E43D55C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719769-70EB-7516-4032-4BCE57555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5F8A7-5DB9-4992-95EB-512B135CD058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16876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2D1BB-6FF0-5B2B-2EA3-972DE45B2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6E1906-915E-194A-3120-42A903F6B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08E97-6EF3-448D-8F45-4AAD37A7D186}" type="datetimeFigureOut">
              <a:rPr lang="en-PH" smtClean="0"/>
              <a:t>8/6/2026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195FE-8A47-D49C-389C-371FD208D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ACF06F-0D09-880D-6C0F-601110819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5F8A7-5DB9-4992-95EB-512B135CD058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44319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CEFEFE-3035-B7B3-0BFB-0CED7E9B6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08E97-6EF3-448D-8F45-4AAD37A7D186}" type="datetimeFigureOut">
              <a:rPr lang="en-PH" smtClean="0"/>
              <a:t>8/6/2026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0BC8A7-4A52-D052-100B-D671EE0AB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8076E-B60D-B79E-15F7-DB04A4CF7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5F8A7-5DB9-4992-95EB-512B135CD058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41260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7DB81-9B63-0DA0-5C40-37803E3BD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99606-B345-BA9F-5FFB-5A27B3EFA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5C8B6C-3C09-C485-5C17-98DAA7A66E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B6E4B8-23DB-3E4D-E1E2-4B6C23DAC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08E97-6EF3-448D-8F45-4AAD37A7D186}" type="datetimeFigureOut">
              <a:rPr lang="en-PH" smtClean="0"/>
              <a:t>8/6/2026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92D8C7-F5A4-2388-98D3-6773677BB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51FDF9-B628-F70F-B61D-D4C18E3CC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5F8A7-5DB9-4992-95EB-512B135CD058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60052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9E6C1-627F-F4CB-72BC-BBFA6B2EB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146F9B-EEBC-EC85-3D3D-20D6367226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E7797F-0FB8-D1C9-7F89-338F1EF15A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E98192-1088-56F2-BC12-5D545BAE3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08E97-6EF3-448D-8F45-4AAD37A7D186}" type="datetimeFigureOut">
              <a:rPr lang="en-PH" smtClean="0"/>
              <a:t>8/6/2026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78094-23A3-7039-DBC3-D4F6003F7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9EA05C-4A15-C7D7-8200-3E78DCF76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5F8A7-5DB9-4992-95EB-512B135CD058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99970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F2E0-65D4-529C-3DD6-D821E4935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D16F45-84D6-EDDE-CB95-2EBEF30EB3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D8264-A326-E159-5E61-CB2A61476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08E97-6EF3-448D-8F45-4AAD37A7D186}" type="datetimeFigureOut">
              <a:rPr lang="en-PH" smtClean="0"/>
              <a:t>8/6/2026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592AFB-8DF8-DF47-7CAF-9D697A4A7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86E708-86B4-2869-7E4D-251F43542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5F8A7-5DB9-4992-95EB-512B135CD058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72011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810CEF-CCA1-201D-6CCF-8FB36791A3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F8251D-A243-1453-9E65-23FC6F6770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D544E-C42A-9316-646D-74ADA59F2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08E97-6EF3-448D-8F45-4AAD37A7D186}" type="datetimeFigureOut">
              <a:rPr lang="en-PH" smtClean="0"/>
              <a:t>8/6/2026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F43FA-3C81-5B10-6660-6403DA132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35237-6DA9-21F8-9DAB-ABAAABCC6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5F8A7-5DB9-4992-95EB-512B135CD058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83733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FA200C-CFC0-18FD-A57E-DE10A5619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2C0286-D5B6-1A2A-EB67-596EB1CB2D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C3A23-C8F8-0355-3746-26A6B10440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C08E97-6EF3-448D-8F45-4AAD37A7D186}" type="datetimeFigureOut">
              <a:rPr lang="en-PH" smtClean="0"/>
              <a:t>8/6/2026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51BCB-DB02-8186-0E3E-620BB0933E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EE6BA-7B73-2654-B262-77CB760748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55F8A7-5DB9-4992-95EB-512B135CD058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92540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B02B12-377B-DD33-7AB0-F0D8247AA4D1}"/>
              </a:ext>
            </a:extLst>
          </p:cNvPr>
          <p:cNvSpPr txBox="1"/>
          <p:nvPr/>
        </p:nvSpPr>
        <p:spPr>
          <a:xfrm>
            <a:off x="889000" y="1778000"/>
            <a:ext cx="965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100" b="1">
                <a:solidFill>
                  <a:srgbClr val="E8A84A"/>
                </a:solidFill>
                <a:latin typeface="Calibri" panose="020F0502020204030204" pitchFamily="34" charset="0"/>
              </a:rPr>
              <a:t>LABORATORY EXERCISE 3  -  E-COMMERCE BUSINESS PRESENCE ENHANCEMENT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28D1E6-DD1C-5AC7-AE4E-2F1DB19B40EA}"/>
              </a:ext>
            </a:extLst>
          </p:cNvPr>
          <p:cNvSpPr txBox="1"/>
          <p:nvPr/>
        </p:nvSpPr>
        <p:spPr>
          <a:xfrm>
            <a:off x="889000" y="2286000"/>
            <a:ext cx="10160000" cy="135421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4400" b="1">
                <a:solidFill>
                  <a:srgbClr val="E8DFC8"/>
                </a:solidFill>
                <a:latin typeface="Georgia" panose="02040502050405020303" pitchFamily="18" charset="0"/>
              </a:rPr>
              <a:t>Strengthening the business</a:t>
            </a:r>
          </a:p>
          <a:p>
            <a:r>
              <a:rPr lang="en-US" sz="4400" b="1">
                <a:solidFill>
                  <a:srgbClr val="E8DFC8"/>
                </a:solidFill>
                <a:latin typeface="Georgia" panose="02040502050405020303" pitchFamily="18" charset="0"/>
              </a:rPr>
              <a:t>presence of Bencris</a:t>
            </a:r>
            <a:endParaRPr lang="en-PH" sz="4400" b="1">
              <a:solidFill>
                <a:srgbClr val="E8DFC8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1F01CC5-07B9-ACF0-5E5E-BEC217505F67}"/>
              </a:ext>
            </a:extLst>
          </p:cNvPr>
          <p:cNvCxnSpPr/>
          <p:nvPr/>
        </p:nvCxnSpPr>
        <p:spPr>
          <a:xfrm>
            <a:off x="889000" y="4089400"/>
            <a:ext cx="1905000" cy="0"/>
          </a:xfrm>
          <a:prstGeom prst="line">
            <a:avLst/>
          </a:prstGeom>
          <a:ln w="38100">
            <a:solidFill>
              <a:srgbClr val="E8A8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C959BDB-945D-E5B5-4DFA-C70E767538D0}"/>
              </a:ext>
            </a:extLst>
          </p:cNvPr>
          <p:cNvSpPr txBox="1"/>
          <p:nvPr/>
        </p:nvSpPr>
        <p:spPr>
          <a:xfrm>
            <a:off x="889000" y="4368800"/>
            <a:ext cx="10414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A9A795"/>
                </a:solidFill>
                <a:latin typeface="Calibri" panose="020F0502020204030204" pitchFamily="34" charset="0"/>
              </a:rPr>
              <a:t>Bencris is a local eatery inside Dasmariñas Bayan, Cavite. It has no website, no page or link a customer could open, no social media and no point-of-sale system. This presentation assesses how the business operates today and plans an online presence that costs nothing to run.</a:t>
            </a:r>
            <a:endParaRPr lang="en-PH" sz="1400">
              <a:solidFill>
                <a:srgbClr val="A9A795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C1F089-5EF6-41FC-E07E-E4E57A6ABB1E}"/>
              </a:ext>
            </a:extLst>
          </p:cNvPr>
          <p:cNvSpPr txBox="1"/>
          <p:nvPr/>
        </p:nvSpPr>
        <p:spPr>
          <a:xfrm>
            <a:off x="889000" y="57912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7B7A6C"/>
                </a:solidFill>
                <a:latin typeface="Calibri" panose="020F0502020204030204" pitchFamily="34" charset="0"/>
              </a:rPr>
              <a:t>Presented by [Member 1], [Member 2], [Member 3], [Member 4] and [Member 5]</a:t>
            </a:r>
            <a:endParaRPr lang="en-PH" sz="1100">
              <a:solidFill>
                <a:srgbClr val="7B7A6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6606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A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9B776D-D6B3-E1C3-BB99-9A66CA746A96}"/>
              </a:ext>
            </a:extLst>
          </p:cNvPr>
          <p:cNvSpPr txBox="1"/>
          <p:nvPr/>
        </p:nvSpPr>
        <p:spPr>
          <a:xfrm>
            <a:off x="762000" y="508000"/>
            <a:ext cx="1066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100" b="1">
                <a:solidFill>
                  <a:srgbClr val="C8442A"/>
                </a:solidFill>
                <a:latin typeface="Calibri" panose="020F0502020204030204" pitchFamily="34" charset="0"/>
              </a:rPr>
              <a:t>CLIENT BACKGROUND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ED694F-AF8C-B84B-0E8E-5FED7F5E3856}"/>
              </a:ext>
            </a:extLst>
          </p:cNvPr>
          <p:cNvSpPr txBox="1"/>
          <p:nvPr/>
        </p:nvSpPr>
        <p:spPr>
          <a:xfrm>
            <a:off x="762000" y="787400"/>
            <a:ext cx="10668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2A1810"/>
                </a:solidFill>
                <a:latin typeface="Georgia" panose="02040502050405020303" pitchFamily="18" charset="0"/>
              </a:rPr>
              <a:t>A business with nothing online</a:t>
            </a:r>
            <a:endParaRPr lang="en-PH" sz="28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0BF612F-E58D-606F-F353-0EDA59EE6772}"/>
              </a:ext>
            </a:extLst>
          </p:cNvPr>
          <p:cNvCxnSpPr/>
          <p:nvPr/>
        </p:nvCxnSpPr>
        <p:spPr>
          <a:xfrm>
            <a:off x="762000" y="1397000"/>
            <a:ext cx="1524000" cy="0"/>
          </a:xfrm>
          <a:prstGeom prst="line">
            <a:avLst/>
          </a:prstGeom>
          <a:ln w="31750">
            <a:solidFill>
              <a:srgbClr val="C84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00AD815-5847-2303-740E-A6E8C8A0985C}"/>
              </a:ext>
            </a:extLst>
          </p:cNvPr>
          <p:cNvSpPr txBox="1"/>
          <p:nvPr/>
        </p:nvSpPr>
        <p:spPr>
          <a:xfrm>
            <a:off x="762000" y="1828800"/>
            <a:ext cx="6350000" cy="191866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400">
                <a:solidFill>
                  <a:srgbClr val="2A1810"/>
                </a:solidFill>
                <a:latin typeface="Calibri" panose="020F0502020204030204" pitchFamily="34" charset="0"/>
              </a:rPr>
              <a:t>•  Bencris is a counter-service eatery inside Dasmariñas Bayan, Cavite.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400">
                <a:solidFill>
                  <a:srgbClr val="2A1810"/>
                </a:solidFill>
                <a:latin typeface="Calibri" panose="020F0502020204030204" pitchFamily="34" charset="0"/>
              </a:rPr>
              <a:t>•  There is no website, and no link a customer can open, save or send to a friend.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400">
                <a:solidFill>
                  <a:srgbClr val="2A1810"/>
                </a:solidFill>
                <a:latin typeface="Calibri" panose="020F0502020204030204" pitchFamily="34" charset="0"/>
              </a:rPr>
              <a:t>•  There is no social media, no point-of-sale, no inventory system, and no record of sales or profit.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400">
                <a:solidFill>
                  <a:srgbClr val="2A1810"/>
                </a:solidFill>
                <a:latin typeface="Calibri" panose="020F0502020204030204" pitchFamily="34" charset="0"/>
              </a:rPr>
              <a:t>•  Ordering is entirely manual: the diner walks up, looks at what is left in the trays, and orders whatever is still there.</a:t>
            </a:r>
            <a:endParaRPr lang="en-PH" sz="14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A33524-FB1A-446A-A4C3-09994C5CC1C2}"/>
              </a:ext>
            </a:extLst>
          </p:cNvPr>
          <p:cNvSpPr/>
          <p:nvPr/>
        </p:nvSpPr>
        <p:spPr>
          <a:xfrm>
            <a:off x="7569200" y="1828800"/>
            <a:ext cx="3860800" cy="33020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C844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425E9E-FF7C-C406-31A8-C860180EC241}"/>
              </a:ext>
            </a:extLst>
          </p:cNvPr>
          <p:cNvSpPr txBox="1"/>
          <p:nvPr/>
        </p:nvSpPr>
        <p:spPr>
          <a:xfrm>
            <a:off x="7874000" y="2108200"/>
            <a:ext cx="32766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C8442A"/>
                </a:solidFill>
                <a:latin typeface="Calibri" panose="020F0502020204030204" pitchFamily="34" charset="0"/>
              </a:rPr>
              <a:t>THE PROBLEM THE CLIENT NAMED</a:t>
            </a:r>
            <a:endParaRPr lang="en-PH" sz="1000" b="1">
              <a:solidFill>
                <a:srgbClr val="C8442A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68969A-D33C-2E4D-8654-AAE383BB51A4}"/>
              </a:ext>
            </a:extLst>
          </p:cNvPr>
          <p:cNvSpPr txBox="1"/>
          <p:nvPr/>
        </p:nvSpPr>
        <p:spPr>
          <a:xfrm>
            <a:off x="7874000" y="2489200"/>
            <a:ext cx="3276600" cy="12926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2A1810"/>
                </a:solidFill>
                <a:latin typeface="Calibri" panose="020F0502020204030204" pitchFamily="34" charset="0"/>
              </a:rPr>
              <a:t>A diner only finds out that the ulam they came for has run out once they are already standing at the counter.</a:t>
            </a:r>
          </a:p>
          <a:p>
            <a:endParaRPr lang="en-US" sz="1400">
              <a:solidFill>
                <a:srgbClr val="2A1810"/>
              </a:solidFill>
              <a:latin typeface="Calibri" panose="020F0502020204030204" pitchFamily="34" charset="0"/>
            </a:endParaRPr>
          </a:p>
          <a:p>
            <a:r>
              <a:rPr lang="en-US" sz="1400">
                <a:solidFill>
                  <a:srgbClr val="2A1810"/>
                </a:solidFill>
                <a:latin typeface="Calibri" panose="020F0502020204030204" pitchFamily="34" charset="0"/>
              </a:rPr>
              <a:t>The trip is wasted, and the customer often leaves without buying anything at all.</a:t>
            </a:r>
            <a:endParaRPr lang="en-PH" sz="14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0054F2-5F05-C96F-85E2-F5D71D33BA92}"/>
              </a:ext>
            </a:extLst>
          </p:cNvPr>
          <p:cNvSpPr txBox="1"/>
          <p:nvPr/>
        </p:nvSpPr>
        <p:spPr>
          <a:xfrm>
            <a:off x="762000" y="6451600"/>
            <a:ext cx="660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6B5546"/>
                </a:solidFill>
                <a:latin typeface="Calibri" panose="020F0502020204030204" pitchFamily="34" charset="0"/>
              </a:rPr>
              <a:t>Laboratory Exercise 3 - Bencris - Web Commercialization and E-Commerce</a:t>
            </a:r>
            <a:endParaRPr lang="en-PH" sz="9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B31966-0885-BEC4-F16A-E8A07EF625D4}"/>
              </a:ext>
            </a:extLst>
          </p:cNvPr>
          <p:cNvSpPr txBox="1"/>
          <p:nvPr/>
        </p:nvSpPr>
        <p:spPr>
          <a:xfrm>
            <a:off x="10947400" y="6451600"/>
            <a:ext cx="4826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900" b="1">
                <a:solidFill>
                  <a:srgbClr val="6B5546"/>
                </a:solidFill>
                <a:latin typeface="Consolas" panose="020B0609020204030204" pitchFamily="49" charset="0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6175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A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F05A54-9C9C-0DC6-94BC-BDA4D7D6D8B0}"/>
              </a:ext>
            </a:extLst>
          </p:cNvPr>
          <p:cNvSpPr txBox="1"/>
          <p:nvPr/>
        </p:nvSpPr>
        <p:spPr>
          <a:xfrm>
            <a:off x="762000" y="508000"/>
            <a:ext cx="1066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C8442A"/>
                </a:solidFill>
                <a:latin typeface="Calibri" panose="020F0502020204030204" pitchFamily="34" charset="0"/>
              </a:rPr>
              <a:t>PART 1  -  BUSINESS PRESENCE ASSESSMENT</a:t>
            </a:r>
            <a:endParaRPr lang="en-PH" sz="1100" b="1">
              <a:solidFill>
                <a:srgbClr val="C8442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66DCA2-D2A8-B060-C0BE-790F82F2AD9C}"/>
              </a:ext>
            </a:extLst>
          </p:cNvPr>
          <p:cNvSpPr txBox="1"/>
          <p:nvPr/>
        </p:nvSpPr>
        <p:spPr>
          <a:xfrm>
            <a:off x="762000" y="787400"/>
            <a:ext cx="10668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2A1810"/>
                </a:solidFill>
                <a:latin typeface="Georgia" panose="02040502050405020303" pitchFamily="18" charset="0"/>
              </a:rPr>
              <a:t>What the website already does well</a:t>
            </a:r>
            <a:endParaRPr lang="en-PH" sz="28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E1B292E-0750-CB4F-006B-DF248564B271}"/>
              </a:ext>
            </a:extLst>
          </p:cNvPr>
          <p:cNvCxnSpPr/>
          <p:nvPr/>
        </p:nvCxnSpPr>
        <p:spPr>
          <a:xfrm>
            <a:off x="762000" y="1397000"/>
            <a:ext cx="1524000" cy="0"/>
          </a:xfrm>
          <a:prstGeom prst="line">
            <a:avLst/>
          </a:prstGeom>
          <a:ln w="31750">
            <a:solidFill>
              <a:srgbClr val="C84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D012995-41ED-1AE8-D9D7-C018B1934504}"/>
              </a:ext>
            </a:extLst>
          </p:cNvPr>
          <p:cNvSpPr txBox="1"/>
          <p:nvPr/>
        </p:nvSpPr>
        <p:spPr>
          <a:xfrm>
            <a:off x="762000" y="1828800"/>
            <a:ext cx="5080000" cy="204915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menu is served from the database, so a dish marks itself sold out and disappears without anyone touching it.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Ordering needs no account and no app. Checkout issues a six-character ticket code to the phone.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Prices are computed by the server, so a tampered browser cannot underpay. An automated test proves it.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Promo codes are validated by the same database rule that charges them.</a:t>
            </a:r>
            <a:endParaRPr lang="en-PH" sz="13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036707-2984-C9C3-9A5E-8538E24CCECF}"/>
              </a:ext>
            </a:extLst>
          </p:cNvPr>
          <p:cNvSpPr txBox="1"/>
          <p:nvPr/>
        </p:nvSpPr>
        <p:spPr>
          <a:xfrm>
            <a:off x="6350000" y="1828800"/>
            <a:ext cx="5080000" cy="22892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GCash receipts are attached to the ticket and stored privately, giving an audit trail at no transaction fee.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owner and the counter see different things, enforced by the database rather than by hidden buttons.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owner dashboard finally measures the business: sales, best sellers, stock and net profit.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A landing page, trust pages, menu search, scarcity badges and one-tap reorder now exist.</a:t>
            </a:r>
            <a:endParaRPr lang="en-PH" sz="13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512955-100A-FFC3-AF3F-60B91623AA93}"/>
              </a:ext>
            </a:extLst>
          </p:cNvPr>
          <p:cNvSpPr txBox="1"/>
          <p:nvPr/>
        </p:nvSpPr>
        <p:spPr>
          <a:xfrm>
            <a:off x="762000" y="6451600"/>
            <a:ext cx="660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6B5546"/>
                </a:solidFill>
                <a:latin typeface="Calibri" panose="020F0502020204030204" pitchFamily="34" charset="0"/>
              </a:rPr>
              <a:t>Laboratory Exercise 3 - Bencris - Web Commercialization and E-Commerce</a:t>
            </a:r>
            <a:endParaRPr lang="en-PH" sz="9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25BAAF-174C-E6C5-0230-36FB51A47578}"/>
              </a:ext>
            </a:extLst>
          </p:cNvPr>
          <p:cNvSpPr txBox="1"/>
          <p:nvPr/>
        </p:nvSpPr>
        <p:spPr>
          <a:xfrm>
            <a:off x="10947400" y="6451600"/>
            <a:ext cx="4826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900" b="1">
                <a:solidFill>
                  <a:srgbClr val="6B5546"/>
                </a:solidFill>
                <a:latin typeface="Consolas" panose="020B0609020204030204" pitchFamily="49" charset="0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101926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A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D4D509-E5B6-1BF7-AC4D-305F674D4A15}"/>
              </a:ext>
            </a:extLst>
          </p:cNvPr>
          <p:cNvSpPr txBox="1"/>
          <p:nvPr/>
        </p:nvSpPr>
        <p:spPr>
          <a:xfrm>
            <a:off x="762000" y="508000"/>
            <a:ext cx="1066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C8442A"/>
                </a:solidFill>
                <a:latin typeface="Calibri" panose="020F0502020204030204" pitchFamily="34" charset="0"/>
              </a:rPr>
              <a:t>PART 1  -  BUSINESS PRESENCE ASSESSMENT</a:t>
            </a:r>
            <a:endParaRPr lang="en-PH" sz="1100" b="1">
              <a:solidFill>
                <a:srgbClr val="C8442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866899-102B-1711-3A86-2FEDBBC8FF9A}"/>
              </a:ext>
            </a:extLst>
          </p:cNvPr>
          <p:cNvSpPr txBox="1"/>
          <p:nvPr/>
        </p:nvSpPr>
        <p:spPr>
          <a:xfrm>
            <a:off x="762000" y="787400"/>
            <a:ext cx="10668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2A1810"/>
                </a:solidFill>
                <a:latin typeface="Georgia" panose="02040502050405020303" pitchFamily="18" charset="0"/>
              </a:rPr>
              <a:t>What the website still needs</a:t>
            </a:r>
            <a:endParaRPr lang="en-PH" sz="28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82D9313-6886-4A77-35F1-10DA7D94E638}"/>
              </a:ext>
            </a:extLst>
          </p:cNvPr>
          <p:cNvCxnSpPr/>
          <p:nvPr/>
        </p:nvCxnSpPr>
        <p:spPr>
          <a:xfrm>
            <a:off x="762000" y="1397000"/>
            <a:ext cx="1524000" cy="0"/>
          </a:xfrm>
          <a:prstGeom prst="line">
            <a:avLst/>
          </a:prstGeom>
          <a:ln w="31750">
            <a:solidFill>
              <a:srgbClr val="C84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9385BF2-A7AD-14A5-5E3A-89AC5F4DDC9D}"/>
              </a:ext>
            </a:extLst>
          </p:cNvPr>
          <p:cNvSpPr txBox="1"/>
          <p:nvPr/>
        </p:nvSpPr>
        <p:spPr>
          <a:xfrm>
            <a:off x="762000" y="1828800"/>
            <a:ext cx="5080000" cy="180908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Ratings never leave the diner's own phone, so the site still shows no social proof.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site is not published yet. There is no public address, so no customer can reach it.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Nothing measures how the site is used, so cart abandonment is invisible.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whole site downloads as one large file, which is slow on mobile data.</a:t>
            </a:r>
            <a:endParaRPr lang="en-PH" sz="13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AE8E1-CE70-2B65-DF01-0A15FF08732B}"/>
              </a:ext>
            </a:extLst>
          </p:cNvPr>
          <p:cNvSpPr txBox="1"/>
          <p:nvPr/>
        </p:nvSpPr>
        <p:spPr>
          <a:xfrm>
            <a:off x="6350000" y="1828800"/>
            <a:ext cx="5080000" cy="180908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dish photographs are generic stock images, and several are wrong for the dish.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address and contact number are still placeholders.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owner cannot create a promo code without a developer.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There is still no QR code or referral code, so word of mouth cannot be captured.</a:t>
            </a:r>
            <a:endParaRPr lang="en-PH" sz="13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B1330-53A5-7DC0-4D26-29F1AE787800}"/>
              </a:ext>
            </a:extLst>
          </p:cNvPr>
          <p:cNvSpPr txBox="1"/>
          <p:nvPr/>
        </p:nvSpPr>
        <p:spPr>
          <a:xfrm>
            <a:off x="762000" y="6451600"/>
            <a:ext cx="660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6B5546"/>
                </a:solidFill>
                <a:latin typeface="Calibri" panose="020F0502020204030204" pitchFamily="34" charset="0"/>
              </a:rPr>
              <a:t>Laboratory Exercise 3 - Bencris - Web Commercialization and E-Commerce</a:t>
            </a:r>
            <a:endParaRPr lang="en-PH" sz="9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70D3CF-D6EE-8677-1C2C-1EC4AA016403}"/>
              </a:ext>
            </a:extLst>
          </p:cNvPr>
          <p:cNvSpPr txBox="1"/>
          <p:nvPr/>
        </p:nvSpPr>
        <p:spPr>
          <a:xfrm>
            <a:off x="10947400" y="6451600"/>
            <a:ext cx="4826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900" b="1">
                <a:solidFill>
                  <a:srgbClr val="6B5546"/>
                </a:solidFill>
                <a:latin typeface="Consolas" panose="020B0609020204030204" pitchFamily="49" charset="0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777396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A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C0CEF4-4C1A-A8D9-A417-78B33A42F1EA}"/>
              </a:ext>
            </a:extLst>
          </p:cNvPr>
          <p:cNvSpPr txBox="1"/>
          <p:nvPr/>
        </p:nvSpPr>
        <p:spPr>
          <a:xfrm>
            <a:off x="762000" y="508000"/>
            <a:ext cx="1066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C8442A"/>
                </a:solidFill>
                <a:latin typeface="Calibri" panose="020F0502020204030204" pitchFamily="34" charset="0"/>
              </a:rPr>
              <a:t>PART 2  -  BUSINESS PRESENCE IMPROVEMENT PLAN</a:t>
            </a:r>
            <a:endParaRPr lang="en-PH" sz="1100" b="1">
              <a:solidFill>
                <a:srgbClr val="C8442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EDBA72-28D2-9417-B143-5085455C7E85}"/>
              </a:ext>
            </a:extLst>
          </p:cNvPr>
          <p:cNvSpPr txBox="1"/>
          <p:nvPr/>
        </p:nvSpPr>
        <p:spPr>
          <a:xfrm>
            <a:off x="762000" y="787400"/>
            <a:ext cx="10668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2A1810"/>
                </a:solidFill>
                <a:latin typeface="Georgia" panose="02040502050405020303" pitchFamily="18" charset="0"/>
              </a:rPr>
              <a:t>Growth built into the product itself</a:t>
            </a:r>
            <a:endParaRPr lang="en-PH" sz="28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05E785-096F-D221-7E29-AFC295C432F1}"/>
              </a:ext>
            </a:extLst>
          </p:cNvPr>
          <p:cNvCxnSpPr/>
          <p:nvPr/>
        </p:nvCxnSpPr>
        <p:spPr>
          <a:xfrm>
            <a:off x="762000" y="1397000"/>
            <a:ext cx="1524000" cy="0"/>
          </a:xfrm>
          <a:prstGeom prst="line">
            <a:avLst/>
          </a:prstGeom>
          <a:ln w="31750">
            <a:solidFill>
              <a:srgbClr val="C84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307D652-DB7E-91E3-3224-E8542D50B4F1}"/>
              </a:ext>
            </a:extLst>
          </p:cNvPr>
          <p:cNvSpPr txBox="1"/>
          <p:nvPr/>
        </p:nvSpPr>
        <p:spPr>
          <a:xfrm>
            <a:off x="762000" y="1803400"/>
            <a:ext cx="10668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6B5546"/>
                </a:solidFill>
                <a:latin typeface="Calibri" panose="020F0502020204030204" pitchFamily="34" charset="0"/>
              </a:rPr>
              <a:t>There is no social page to maintain. The website itself is the marketing channel, and every mechanism below is free to run.</a:t>
            </a:r>
            <a:endParaRPr lang="en-PH" sz="13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33E15D8-986A-EF1C-B812-CEA06BE68521}"/>
              </a:ext>
            </a:extLst>
          </p:cNvPr>
          <p:cNvSpPr/>
          <p:nvPr/>
        </p:nvSpPr>
        <p:spPr>
          <a:xfrm>
            <a:off x="762000" y="2235200"/>
            <a:ext cx="3429000" cy="18796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202D0D-6152-9030-4892-A6A0DEB69764}"/>
              </a:ext>
            </a:extLst>
          </p:cNvPr>
          <p:cNvSpPr txBox="1"/>
          <p:nvPr/>
        </p:nvSpPr>
        <p:spPr>
          <a:xfrm>
            <a:off x="990600" y="2438400"/>
            <a:ext cx="297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400" b="1">
                <a:solidFill>
                  <a:srgbClr val="2A1810"/>
                </a:solidFill>
                <a:latin typeface="Georgia" panose="02040502050405020303" pitchFamily="18" charset="0"/>
              </a:rPr>
              <a:t>Shareable menu link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7A7F4D-AB54-F511-926A-3AE80BF9CF02}"/>
              </a:ext>
            </a:extLst>
          </p:cNvPr>
          <p:cNvSpPr txBox="1"/>
          <p:nvPr/>
        </p:nvSpPr>
        <p:spPr>
          <a:xfrm>
            <a:off x="990600" y="2794000"/>
            <a:ext cx="2971800" cy="5078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The link previews with the shop name and a dish photo, so a diner can drop Bencris into a group chat in one tap.</a:t>
            </a:r>
            <a:endParaRPr lang="en-PH" sz="11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3DC7BB7-237B-D2EA-D218-39C654CF4EEB}"/>
              </a:ext>
            </a:extLst>
          </p:cNvPr>
          <p:cNvSpPr/>
          <p:nvPr/>
        </p:nvSpPr>
        <p:spPr>
          <a:xfrm>
            <a:off x="4445000" y="2235200"/>
            <a:ext cx="3429000" cy="18796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E10D9-8BCA-B92C-B925-C5372756BB72}"/>
              </a:ext>
            </a:extLst>
          </p:cNvPr>
          <p:cNvSpPr txBox="1"/>
          <p:nvPr/>
        </p:nvSpPr>
        <p:spPr>
          <a:xfrm>
            <a:off x="4673600" y="2438400"/>
            <a:ext cx="297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400" b="1">
                <a:solidFill>
                  <a:srgbClr val="2A1810"/>
                </a:solidFill>
                <a:latin typeface="Georgia" panose="02040502050405020303" pitchFamily="18" charset="0"/>
              </a:rPr>
              <a:t>Share on the receipt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D951E0-95A8-F4BF-7828-A668B7DE6734}"/>
              </a:ext>
            </a:extLst>
          </p:cNvPr>
          <p:cNvSpPr txBox="1"/>
          <p:nvPr/>
        </p:nvSpPr>
        <p:spPr>
          <a:xfrm>
            <a:off x="4673600" y="2794000"/>
            <a:ext cx="29718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A Share action on the receipt turns every satisfied diner into a distribution channel at no cost.</a:t>
            </a:r>
            <a:endParaRPr lang="en-PH" sz="11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1C5E37E-E230-6D54-A67D-1AE5B25686AD}"/>
              </a:ext>
            </a:extLst>
          </p:cNvPr>
          <p:cNvSpPr/>
          <p:nvPr/>
        </p:nvSpPr>
        <p:spPr>
          <a:xfrm>
            <a:off x="8128000" y="2235200"/>
            <a:ext cx="3429000" cy="18796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65FA81-1297-2AA0-F7EE-A38F81DF5F07}"/>
              </a:ext>
            </a:extLst>
          </p:cNvPr>
          <p:cNvSpPr txBox="1"/>
          <p:nvPr/>
        </p:nvSpPr>
        <p:spPr>
          <a:xfrm>
            <a:off x="8356600" y="2438400"/>
            <a:ext cx="297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400" b="1">
                <a:solidFill>
                  <a:srgbClr val="2A1810"/>
                </a:solidFill>
                <a:latin typeface="Georgia" panose="02040502050405020303" pitchFamily="18" charset="0"/>
              </a:rPr>
              <a:t>Referral codes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5238BE-8244-9F4A-7AAA-A9D6418E6C0E}"/>
              </a:ext>
            </a:extLst>
          </p:cNvPr>
          <p:cNvSpPr txBox="1"/>
          <p:nvPr/>
        </p:nvSpPr>
        <p:spPr>
          <a:xfrm>
            <a:off x="8356600" y="2794000"/>
            <a:ext cx="2971800" cy="5078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A personal code rewards the diner who brings a friend, and costs a discount only when it produces a sale.</a:t>
            </a:r>
            <a:endParaRPr lang="en-PH" sz="11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C1058C1-3E5D-E81B-AFAD-34670A157605}"/>
              </a:ext>
            </a:extLst>
          </p:cNvPr>
          <p:cNvSpPr/>
          <p:nvPr/>
        </p:nvSpPr>
        <p:spPr>
          <a:xfrm>
            <a:off x="762000" y="4292600"/>
            <a:ext cx="3429000" cy="18796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EAA1DB-0E8E-7FEE-A74E-E584383E0830}"/>
              </a:ext>
            </a:extLst>
          </p:cNvPr>
          <p:cNvSpPr txBox="1"/>
          <p:nvPr/>
        </p:nvSpPr>
        <p:spPr>
          <a:xfrm>
            <a:off x="990600" y="4495800"/>
            <a:ext cx="297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 b="1">
                <a:solidFill>
                  <a:srgbClr val="2A1810"/>
                </a:solidFill>
                <a:latin typeface="Georgia" panose="02040502050405020303" pitchFamily="18" charset="0"/>
              </a:rPr>
              <a:t>QR code at the counter</a:t>
            </a:r>
            <a:endParaRPr lang="en-PH" sz="14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6B53B6-1B98-0887-CAFE-FFC43D718BCF}"/>
              </a:ext>
            </a:extLst>
          </p:cNvPr>
          <p:cNvSpPr txBox="1"/>
          <p:nvPr/>
        </p:nvSpPr>
        <p:spPr>
          <a:xfrm>
            <a:off x="990600" y="4851400"/>
            <a:ext cx="29718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A QR displayed at the counter turns today's walk-in customer into tomorrow's online order.</a:t>
            </a:r>
            <a:endParaRPr lang="en-PH" sz="11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B969A4-6360-4EAE-E5CE-2A3704990183}"/>
              </a:ext>
            </a:extLst>
          </p:cNvPr>
          <p:cNvSpPr/>
          <p:nvPr/>
        </p:nvSpPr>
        <p:spPr>
          <a:xfrm>
            <a:off x="4445000" y="4292600"/>
            <a:ext cx="3429000" cy="18796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6BD4EA-5B3D-0E10-005A-0AAF9489C664}"/>
              </a:ext>
            </a:extLst>
          </p:cNvPr>
          <p:cNvSpPr txBox="1"/>
          <p:nvPr/>
        </p:nvSpPr>
        <p:spPr>
          <a:xfrm>
            <a:off x="4673600" y="4495800"/>
            <a:ext cx="297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400" b="1">
                <a:solidFill>
                  <a:srgbClr val="2A1810"/>
                </a:solidFill>
                <a:latin typeface="Georgia" panose="02040502050405020303" pitchFamily="18" charset="0"/>
              </a:rPr>
              <a:t>Timed promotional codes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DE2C05-2FD5-147E-9E7B-4D9F3570EF63}"/>
              </a:ext>
            </a:extLst>
          </p:cNvPr>
          <p:cNvSpPr txBox="1"/>
          <p:nvPr/>
        </p:nvSpPr>
        <p:spPr>
          <a:xfrm>
            <a:off x="4673600" y="4851400"/>
            <a:ext cx="29718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A code such as HAPON15 runs only between 2 and 4 PM, pulling demand into the quiet hours.</a:t>
            </a:r>
            <a:endParaRPr lang="en-PH" sz="11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A7C6403-F8EA-0A53-2AE3-7AE797BB2372}"/>
              </a:ext>
            </a:extLst>
          </p:cNvPr>
          <p:cNvSpPr/>
          <p:nvPr/>
        </p:nvSpPr>
        <p:spPr>
          <a:xfrm>
            <a:off x="8128000" y="4292600"/>
            <a:ext cx="3429000" cy="18796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4DC9F5-9A66-8308-9771-4C8F569BD185}"/>
              </a:ext>
            </a:extLst>
          </p:cNvPr>
          <p:cNvSpPr txBox="1"/>
          <p:nvPr/>
        </p:nvSpPr>
        <p:spPr>
          <a:xfrm>
            <a:off x="8356600" y="4495800"/>
            <a:ext cx="297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400" b="1">
                <a:solidFill>
                  <a:srgbClr val="2A1810"/>
                </a:solidFill>
                <a:latin typeface="Georgia" panose="02040502050405020303" pitchFamily="18" charset="0"/>
              </a:rPr>
              <a:t>Verified reviews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1FD376-07F5-945B-ECD0-D23CADE28CBF}"/>
              </a:ext>
            </a:extLst>
          </p:cNvPr>
          <p:cNvSpPr txBox="1"/>
          <p:nvPr/>
        </p:nvSpPr>
        <p:spPr>
          <a:xfrm>
            <a:off x="8356600" y="4851400"/>
            <a:ext cx="29718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Only a ticket code that was actually paid can leave a rating, so the reviews cannot be faked.</a:t>
            </a:r>
            <a:endParaRPr lang="en-PH" sz="11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11BAE2-0B24-90C1-2F03-298E2A13965E}"/>
              </a:ext>
            </a:extLst>
          </p:cNvPr>
          <p:cNvSpPr txBox="1"/>
          <p:nvPr/>
        </p:nvSpPr>
        <p:spPr>
          <a:xfrm>
            <a:off x="762000" y="6451600"/>
            <a:ext cx="660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6B5546"/>
                </a:solidFill>
                <a:latin typeface="Calibri" panose="020F0502020204030204" pitchFamily="34" charset="0"/>
              </a:rPr>
              <a:t>Laboratory Exercise 3 - Bencris - Web Commercialization and E-Commerce</a:t>
            </a:r>
            <a:endParaRPr lang="en-PH" sz="9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DFDECA-AB2E-7753-A607-7AA8ECE56AC6}"/>
              </a:ext>
            </a:extLst>
          </p:cNvPr>
          <p:cNvSpPr txBox="1"/>
          <p:nvPr/>
        </p:nvSpPr>
        <p:spPr>
          <a:xfrm>
            <a:off x="10947400" y="6451600"/>
            <a:ext cx="4826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900" b="1">
                <a:solidFill>
                  <a:srgbClr val="6B5546"/>
                </a:solidFill>
                <a:latin typeface="Consolas" panose="020B0609020204030204" pitchFamily="49" charset="0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0226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A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756D5F-2F70-8801-EB04-6A74F5592702}"/>
              </a:ext>
            </a:extLst>
          </p:cNvPr>
          <p:cNvSpPr txBox="1"/>
          <p:nvPr/>
        </p:nvSpPr>
        <p:spPr>
          <a:xfrm>
            <a:off x="762000" y="508000"/>
            <a:ext cx="1066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C8442A"/>
                </a:solidFill>
                <a:latin typeface="Calibri" panose="020F0502020204030204" pitchFamily="34" charset="0"/>
              </a:rPr>
              <a:t>PART 3  -  CUSTOMER JOURNEY MAPPING</a:t>
            </a:r>
            <a:endParaRPr lang="en-PH" sz="1100" b="1">
              <a:solidFill>
                <a:srgbClr val="C8442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851C92-4335-566C-66D6-2F19E22F2C6B}"/>
              </a:ext>
            </a:extLst>
          </p:cNvPr>
          <p:cNvSpPr txBox="1"/>
          <p:nvPr/>
        </p:nvSpPr>
        <p:spPr>
          <a:xfrm>
            <a:off x="762000" y="787400"/>
            <a:ext cx="10668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2A1810"/>
                </a:solidFill>
                <a:latin typeface="Georgia" panose="02040502050405020303" pitchFamily="18" charset="0"/>
              </a:rPr>
              <a:t>Fifteen stages, and two loops that close</a:t>
            </a:r>
            <a:endParaRPr lang="en-PH" sz="28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7F6656F-6896-E50B-BE76-682F6FCD1880}"/>
              </a:ext>
            </a:extLst>
          </p:cNvPr>
          <p:cNvCxnSpPr/>
          <p:nvPr/>
        </p:nvCxnSpPr>
        <p:spPr>
          <a:xfrm>
            <a:off x="762000" y="1397000"/>
            <a:ext cx="1524000" cy="0"/>
          </a:xfrm>
          <a:prstGeom prst="line">
            <a:avLst/>
          </a:prstGeom>
          <a:ln w="31750">
            <a:solidFill>
              <a:srgbClr val="C84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9995B94-F7DE-5FBE-8D5F-308040A4EBBE}"/>
              </a:ext>
            </a:extLst>
          </p:cNvPr>
          <p:cNvSpPr txBox="1"/>
          <p:nvPr/>
        </p:nvSpPr>
        <p:spPr>
          <a:xfrm>
            <a:off x="762000" y="2032000"/>
            <a:ext cx="4826000" cy="168084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Discovery now has three doors: a link forwarded in a chat, the QR at the counter, or a web search.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journey branches at payment. A GCash diner uploads their receipt, while a cash diner goes straight to the counter.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Two loops close the journey: a reorder returns the diner to Browse, and a shared receipt starts a new person at Discover.</a:t>
            </a:r>
            <a:endParaRPr lang="en-PH" sz="13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10AAB6-781F-ADD9-CDD1-96AF540973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0109" y="1244600"/>
            <a:ext cx="5583891" cy="50292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95294A-19CD-3D15-EB53-EB2B4E209A1C}"/>
              </a:ext>
            </a:extLst>
          </p:cNvPr>
          <p:cNvSpPr txBox="1"/>
          <p:nvPr/>
        </p:nvSpPr>
        <p:spPr>
          <a:xfrm>
            <a:off x="762000" y="6451600"/>
            <a:ext cx="660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6B5546"/>
                </a:solidFill>
                <a:latin typeface="Calibri" panose="020F0502020204030204" pitchFamily="34" charset="0"/>
              </a:rPr>
              <a:t>Laboratory Exercise 3 - Bencris - Web Commercialization and E-Commerce</a:t>
            </a:r>
            <a:endParaRPr lang="en-PH" sz="9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4B8CD3-13DF-47EB-5E62-430F842168B7}"/>
              </a:ext>
            </a:extLst>
          </p:cNvPr>
          <p:cNvSpPr txBox="1"/>
          <p:nvPr/>
        </p:nvSpPr>
        <p:spPr>
          <a:xfrm>
            <a:off x="10947400" y="6451600"/>
            <a:ext cx="4826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900" b="1">
                <a:solidFill>
                  <a:srgbClr val="6B5546"/>
                </a:solidFill>
                <a:latin typeface="Consolas" panose="020B0609020204030204" pitchFamily="49" charset="0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313133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A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7D0BF5-D90C-9BEC-9237-AD5ECE7BAF8E}"/>
              </a:ext>
            </a:extLst>
          </p:cNvPr>
          <p:cNvSpPr txBox="1"/>
          <p:nvPr/>
        </p:nvSpPr>
        <p:spPr>
          <a:xfrm>
            <a:off x="762000" y="508000"/>
            <a:ext cx="1066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C8442A"/>
                </a:solidFill>
                <a:latin typeface="Calibri" panose="020F0502020204030204" pitchFamily="34" charset="0"/>
              </a:rPr>
              <a:t>PART 4  -  WEBSITE OPERATIONS PLAN</a:t>
            </a:r>
            <a:endParaRPr lang="en-PH" sz="1100" b="1">
              <a:solidFill>
                <a:srgbClr val="C8442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488FC7-A513-7660-4E84-A0A5D499619B}"/>
              </a:ext>
            </a:extLst>
          </p:cNvPr>
          <p:cNvSpPr txBox="1"/>
          <p:nvPr/>
        </p:nvSpPr>
        <p:spPr>
          <a:xfrm>
            <a:off x="762000" y="787400"/>
            <a:ext cx="10668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2A1810"/>
                </a:solidFill>
                <a:latin typeface="Georgia" panose="02040502050405020303" pitchFamily="18" charset="0"/>
              </a:rPr>
              <a:t>Developing and launching the website</a:t>
            </a:r>
            <a:endParaRPr lang="en-PH" sz="28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0EC3ED9-7526-31B1-115E-B868541E2CF2}"/>
              </a:ext>
            </a:extLst>
          </p:cNvPr>
          <p:cNvCxnSpPr/>
          <p:nvPr/>
        </p:nvCxnSpPr>
        <p:spPr>
          <a:xfrm>
            <a:off x="762000" y="1397000"/>
            <a:ext cx="1524000" cy="0"/>
          </a:xfrm>
          <a:prstGeom prst="line">
            <a:avLst/>
          </a:prstGeom>
          <a:ln w="31750">
            <a:solidFill>
              <a:srgbClr val="C84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7006218-ECE4-6E64-948A-37528BB7BB11}"/>
              </a:ext>
            </a:extLst>
          </p:cNvPr>
          <p:cNvSpPr txBox="1"/>
          <p:nvPr/>
        </p:nvSpPr>
        <p:spPr>
          <a:xfrm>
            <a:off x="762000" y="1778000"/>
            <a:ext cx="10668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>
                <a:solidFill>
                  <a:srgbClr val="6B5546"/>
                </a:solidFill>
                <a:latin typeface="Calibri" panose="020F0502020204030204" pitchFamily="34" charset="0"/>
              </a:rPr>
              <a:t>Every activity below is owned by a named member, has a timeline, and leaves evidence behind.</a:t>
            </a:r>
            <a:endParaRPr lang="en-PH" sz="12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E657E32-72D2-C404-E023-3A49D1231AC9}"/>
              </a:ext>
            </a:extLst>
          </p:cNvPr>
          <p:cNvSpPr/>
          <p:nvPr/>
        </p:nvSpPr>
        <p:spPr>
          <a:xfrm>
            <a:off x="762000" y="215900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1E2E73-D99F-B6AB-2EC7-2792D0B1DAA3}"/>
              </a:ext>
            </a:extLst>
          </p:cNvPr>
          <p:cNvSpPr txBox="1"/>
          <p:nvPr/>
        </p:nvSpPr>
        <p:spPr>
          <a:xfrm>
            <a:off x="990600" y="2387600"/>
            <a:ext cx="2971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000" b="1">
                <a:solidFill>
                  <a:srgbClr val="C8442A"/>
                </a:solidFill>
                <a:latin typeface="Calibri" panose="020F0502020204030204" pitchFamily="34" charset="0"/>
              </a:rPr>
              <a:t>DEVELOPMENT ACTIVITIES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71BDA2-DC84-6B6A-AE2C-C864729BA706}"/>
              </a:ext>
            </a:extLst>
          </p:cNvPr>
          <p:cNvSpPr txBox="1"/>
          <p:nvPr/>
        </p:nvSpPr>
        <p:spPr>
          <a:xfrm>
            <a:off x="990600" y="2692400"/>
            <a:ext cx="2971800" cy="135421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Interview the owner and observe a full service at the store.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Design the database and put the ordering rules in PostgreSQL.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Build the customer storefront, the counter screen and the owner dashboard.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Build the proof-of-payment flow and the promotional code engine.</a:t>
            </a:r>
            <a:endParaRPr lang="en-PH" sz="11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16A72-12A4-D353-7575-9EDFB5A642C8}"/>
              </a:ext>
            </a:extLst>
          </p:cNvPr>
          <p:cNvSpPr txBox="1"/>
          <p:nvPr/>
        </p:nvSpPr>
        <p:spPr>
          <a:xfrm>
            <a:off x="990600" y="5029200"/>
            <a:ext cx="2971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6B5546"/>
                </a:solidFill>
                <a:latin typeface="Calibri" panose="020F0502020204030204" pitchFamily="34" charset="0"/>
              </a:rPr>
              <a:t>[Member 1] and [Member 2]</a:t>
            </a:r>
            <a:endParaRPr lang="en-PH" sz="1000" b="1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4F27938-D3BE-C1B7-1D69-F283882505BB}"/>
              </a:ext>
            </a:extLst>
          </p:cNvPr>
          <p:cNvSpPr/>
          <p:nvPr/>
        </p:nvSpPr>
        <p:spPr>
          <a:xfrm>
            <a:off x="4445000" y="215900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88B4E3-47C9-42DD-8479-9B73ABAC9E33}"/>
              </a:ext>
            </a:extLst>
          </p:cNvPr>
          <p:cNvSpPr txBox="1"/>
          <p:nvPr/>
        </p:nvSpPr>
        <p:spPr>
          <a:xfrm>
            <a:off x="4673600" y="2387600"/>
            <a:ext cx="2971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000" b="1">
                <a:solidFill>
                  <a:srgbClr val="C8442A"/>
                </a:solidFill>
                <a:latin typeface="Calibri" panose="020F0502020204030204" pitchFamily="34" charset="0"/>
              </a:rPr>
              <a:t>LAUNCH ACTIVITIES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B00048-222E-5CBE-9373-E2CC2F69D809}"/>
              </a:ext>
            </a:extLst>
          </p:cNvPr>
          <p:cNvSpPr txBox="1"/>
          <p:nvPr/>
        </p:nvSpPr>
        <p:spPr>
          <a:xfrm>
            <a:off x="4673600" y="2692400"/>
            <a:ext cx="2971800" cy="118494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Photograph every dish and write descriptions in Tagalog and English.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Add search visibility and proper link previews.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Build the share action, the counter QR and the referral codes.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Deploy the site to free hosting with a public address.</a:t>
            </a:r>
            <a:endParaRPr lang="en-PH" sz="11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31E59A-3E4D-A5F2-0C50-1FDCE3843D52}"/>
              </a:ext>
            </a:extLst>
          </p:cNvPr>
          <p:cNvSpPr txBox="1"/>
          <p:nvPr/>
        </p:nvSpPr>
        <p:spPr>
          <a:xfrm>
            <a:off x="4673600" y="5029200"/>
            <a:ext cx="2971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000" b="1">
                <a:solidFill>
                  <a:srgbClr val="6B5546"/>
                </a:solidFill>
                <a:latin typeface="Calibri" panose="020F0502020204030204" pitchFamily="34" charset="0"/>
              </a:rPr>
              <a:t>[Member 3]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43F4F31-729A-35A3-AACE-8EB0A9F17581}"/>
              </a:ext>
            </a:extLst>
          </p:cNvPr>
          <p:cNvSpPr/>
          <p:nvPr/>
        </p:nvSpPr>
        <p:spPr>
          <a:xfrm>
            <a:off x="8128000" y="215900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C0D7C7-D316-BC8C-8724-53FDF29316D5}"/>
              </a:ext>
            </a:extLst>
          </p:cNvPr>
          <p:cNvSpPr txBox="1"/>
          <p:nvPr/>
        </p:nvSpPr>
        <p:spPr>
          <a:xfrm>
            <a:off x="8356600" y="2387600"/>
            <a:ext cx="2971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000" b="1">
                <a:solidFill>
                  <a:srgbClr val="C8442A"/>
                </a:solidFill>
                <a:latin typeface="Calibri" panose="020F0502020204030204" pitchFamily="34" charset="0"/>
              </a:rPr>
              <a:t>TESTING AND HANDOVER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2CFA76-F331-7D1C-4570-D9A288B68E8D}"/>
              </a:ext>
            </a:extLst>
          </p:cNvPr>
          <p:cNvSpPr txBox="1"/>
          <p:nvPr/>
        </p:nvSpPr>
        <p:spPr>
          <a:xfrm>
            <a:off x="8356600" y="2692400"/>
            <a:ext cx="2971800" cy="135421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Run the three backend test suites and the mobile test suite.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Walk the whole diner-to-owner path by hand on a phone.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Train the owner and leave a one-page cheat sheet behind.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Produce the worksheet, the journey diagram and this deck.</a:t>
            </a:r>
            <a:endParaRPr lang="en-PH" sz="11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23FC6B-E3DB-7612-9084-D02CA3CD773F}"/>
              </a:ext>
            </a:extLst>
          </p:cNvPr>
          <p:cNvSpPr txBox="1"/>
          <p:nvPr/>
        </p:nvSpPr>
        <p:spPr>
          <a:xfrm>
            <a:off x="8356600" y="5029200"/>
            <a:ext cx="2971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6B5546"/>
                </a:solidFill>
                <a:latin typeface="Calibri" panose="020F0502020204030204" pitchFamily="34" charset="0"/>
              </a:rPr>
              <a:t>[Member 4] and [Member 5]</a:t>
            </a:r>
            <a:endParaRPr lang="en-PH" sz="1000" b="1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3D1D95-D62A-61D5-0CDA-778A2EA7C59D}"/>
              </a:ext>
            </a:extLst>
          </p:cNvPr>
          <p:cNvSpPr txBox="1"/>
          <p:nvPr/>
        </p:nvSpPr>
        <p:spPr>
          <a:xfrm>
            <a:off x="762000" y="5588000"/>
            <a:ext cx="10668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>
                <a:solidFill>
                  <a:srgbClr val="6B5546"/>
                </a:solidFill>
                <a:latin typeface="Calibri" panose="020F0502020204030204" pitchFamily="34" charset="0"/>
              </a:rPr>
              <a:t>Timeline: four weeks, running from the week of 4 August 2026.</a:t>
            </a:r>
            <a:endParaRPr lang="en-PH" sz="12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DF82AD-2220-8523-95E9-2D722032B7AD}"/>
              </a:ext>
            </a:extLst>
          </p:cNvPr>
          <p:cNvSpPr txBox="1"/>
          <p:nvPr/>
        </p:nvSpPr>
        <p:spPr>
          <a:xfrm>
            <a:off x="762000" y="6451600"/>
            <a:ext cx="660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6B5546"/>
                </a:solidFill>
                <a:latin typeface="Calibri" panose="020F0502020204030204" pitchFamily="34" charset="0"/>
              </a:rPr>
              <a:t>Laboratory Exercise 3 - Bencris - Web Commercialization and E-Commerce</a:t>
            </a:r>
            <a:endParaRPr lang="en-PH" sz="9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78A687-2686-3328-A289-6C4F1FC96B7A}"/>
              </a:ext>
            </a:extLst>
          </p:cNvPr>
          <p:cNvSpPr txBox="1"/>
          <p:nvPr/>
        </p:nvSpPr>
        <p:spPr>
          <a:xfrm>
            <a:off x="10947400" y="6451600"/>
            <a:ext cx="4826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900" b="1">
                <a:solidFill>
                  <a:srgbClr val="6B5546"/>
                </a:solidFill>
                <a:latin typeface="Consolas" panose="020B0609020204030204" pitchFamily="49" charset="0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260014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A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397849-2E53-0A49-5E13-3DEAEAF3CBDD}"/>
              </a:ext>
            </a:extLst>
          </p:cNvPr>
          <p:cNvSpPr txBox="1"/>
          <p:nvPr/>
        </p:nvSpPr>
        <p:spPr>
          <a:xfrm>
            <a:off x="762000" y="508000"/>
            <a:ext cx="1066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C8442A"/>
                </a:solidFill>
                <a:latin typeface="Calibri" panose="020F0502020204030204" pitchFamily="34" charset="0"/>
              </a:rPr>
              <a:t>PART 4  -  WEBSITE OPERATIONS PLAN</a:t>
            </a:r>
            <a:endParaRPr lang="en-PH" sz="1100" b="1">
              <a:solidFill>
                <a:srgbClr val="C8442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706816-51B2-E956-1F36-336DCA48420E}"/>
              </a:ext>
            </a:extLst>
          </p:cNvPr>
          <p:cNvSpPr txBox="1"/>
          <p:nvPr/>
        </p:nvSpPr>
        <p:spPr>
          <a:xfrm>
            <a:off x="762000" y="787400"/>
            <a:ext cx="10668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2A1810"/>
                </a:solidFill>
                <a:latin typeface="Georgia" panose="02040502050405020303" pitchFamily="18" charset="0"/>
              </a:rPr>
              <a:t>Keeping the website running after handover</a:t>
            </a:r>
            <a:endParaRPr lang="en-PH" sz="28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3791E14-E089-B5C6-2CD1-C87CCF3D8890}"/>
              </a:ext>
            </a:extLst>
          </p:cNvPr>
          <p:cNvCxnSpPr/>
          <p:nvPr/>
        </p:nvCxnSpPr>
        <p:spPr>
          <a:xfrm>
            <a:off x="762000" y="1397000"/>
            <a:ext cx="1524000" cy="0"/>
          </a:xfrm>
          <a:prstGeom prst="line">
            <a:avLst/>
          </a:prstGeom>
          <a:ln w="31750">
            <a:solidFill>
              <a:srgbClr val="C84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FC8EC2E-6745-CC47-8898-15F384FD4EE6}"/>
              </a:ext>
            </a:extLst>
          </p:cNvPr>
          <p:cNvSpPr txBox="1"/>
          <p:nvPr/>
        </p:nvSpPr>
        <p:spPr>
          <a:xfrm>
            <a:off x="762000" y="1905000"/>
            <a:ext cx="5080000" cy="168084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Daily: confirm the owner has marked today's dishes available and set stock counts, so the site never advertises food that has already run out.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Weekly: clear every payment the cashier flagged for review against the real GCash history, so no sale stays unexplained.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Weekly: read best sellers, slow movers and net profit, then tell the owner which dishes to cook more or less of.</a:t>
            </a:r>
            <a:endParaRPr lang="en-PH" sz="13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FC930-1E0E-2D38-CB12-A508E461831A}"/>
              </a:ext>
            </a:extLst>
          </p:cNvPr>
          <p:cNvSpPr txBox="1"/>
          <p:nvPr/>
        </p:nvSpPr>
        <p:spPr>
          <a:xfrm>
            <a:off x="6350000" y="1905000"/>
            <a:ext cx="5080000" cy="204915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Monthly: choose the next promotional code, set its discount and expiry, and announce it.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Monthly: export the database and keep the migration history in version control.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Monthly: re-run the role-separation and security tests, and rotate the staff passwords.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Monthly: confirm the stored payment proofs still fit inside the free tier.</a:t>
            </a:r>
            <a:endParaRPr lang="en-PH" sz="13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E20D78-110F-847F-0B5A-65427724C933}"/>
              </a:ext>
            </a:extLst>
          </p:cNvPr>
          <p:cNvSpPr txBox="1"/>
          <p:nvPr/>
        </p:nvSpPr>
        <p:spPr>
          <a:xfrm>
            <a:off x="762000" y="5613400"/>
            <a:ext cx="10668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 b="1">
                <a:solidFill>
                  <a:srgbClr val="2A1810"/>
                </a:solidFill>
                <a:latin typeface="Georgia" panose="02040502050405020303" pitchFamily="18" charset="0"/>
              </a:rPr>
              <a:t>Cost to keep the website running: nothing per month. No payment gateway, no paid hosting, and no printer.</a:t>
            </a:r>
            <a:endParaRPr lang="en-PH" sz="14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CC5DB8-35B0-8093-D946-B563B2EDDD3E}"/>
              </a:ext>
            </a:extLst>
          </p:cNvPr>
          <p:cNvSpPr txBox="1"/>
          <p:nvPr/>
        </p:nvSpPr>
        <p:spPr>
          <a:xfrm>
            <a:off x="762000" y="6451600"/>
            <a:ext cx="660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6B5546"/>
                </a:solidFill>
                <a:latin typeface="Calibri" panose="020F0502020204030204" pitchFamily="34" charset="0"/>
              </a:rPr>
              <a:t>Laboratory Exercise 3 - Bencris - Web Commercialization and E-Commerce</a:t>
            </a:r>
            <a:endParaRPr lang="en-PH" sz="9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FE579B-9570-8C1B-1452-FEB70F6C16E7}"/>
              </a:ext>
            </a:extLst>
          </p:cNvPr>
          <p:cNvSpPr txBox="1"/>
          <p:nvPr/>
        </p:nvSpPr>
        <p:spPr>
          <a:xfrm>
            <a:off x="10947400" y="6451600"/>
            <a:ext cx="4826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900" b="1">
                <a:solidFill>
                  <a:srgbClr val="6B5546"/>
                </a:solidFill>
                <a:latin typeface="Consolas" panose="020B0609020204030204" pitchFamily="49" charset="0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0444978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767F43-176A-65AD-2B64-06AB9EFA6A2B}"/>
              </a:ext>
            </a:extLst>
          </p:cNvPr>
          <p:cNvSpPr txBox="1"/>
          <p:nvPr/>
        </p:nvSpPr>
        <p:spPr>
          <a:xfrm>
            <a:off x="889000" y="2159000"/>
            <a:ext cx="10160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200" b="1">
                <a:solidFill>
                  <a:srgbClr val="E8A84A"/>
                </a:solidFill>
                <a:latin typeface="Calibri" panose="020F0502020204030204" pitchFamily="34" charset="0"/>
              </a:rPr>
              <a:t>FROM NOTHING ONLINE TO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6B385F-7870-C430-0559-E665DDE1856C}"/>
              </a:ext>
            </a:extLst>
          </p:cNvPr>
          <p:cNvSpPr txBox="1"/>
          <p:nvPr/>
        </p:nvSpPr>
        <p:spPr>
          <a:xfrm>
            <a:off x="889000" y="2616200"/>
            <a:ext cx="10414000" cy="116955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800" b="1">
                <a:solidFill>
                  <a:srgbClr val="E8DFC8"/>
                </a:solidFill>
                <a:latin typeface="Georgia" panose="02040502050405020303" pitchFamily="18" charset="0"/>
              </a:rPr>
              <a:t>A menu that tells the truth</a:t>
            </a:r>
          </a:p>
          <a:p>
            <a:r>
              <a:rPr lang="en-US" sz="3800" b="1">
                <a:solidFill>
                  <a:srgbClr val="E8DFC8"/>
                </a:solidFill>
                <a:latin typeface="Georgia" panose="02040502050405020303" pitchFamily="18" charset="0"/>
              </a:rPr>
              <a:t>before anyone leaves home.</a:t>
            </a:r>
            <a:endParaRPr lang="en-PH" sz="3800" b="1">
              <a:solidFill>
                <a:srgbClr val="E8DFC8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DD4334E-923E-90E1-6ABB-2C7179790421}"/>
              </a:ext>
            </a:extLst>
          </p:cNvPr>
          <p:cNvCxnSpPr/>
          <p:nvPr/>
        </p:nvCxnSpPr>
        <p:spPr>
          <a:xfrm>
            <a:off x="889000" y="4648200"/>
            <a:ext cx="1905000" cy="0"/>
          </a:xfrm>
          <a:prstGeom prst="line">
            <a:avLst/>
          </a:prstGeom>
          <a:ln w="38100">
            <a:solidFill>
              <a:srgbClr val="E8A8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704425E-FFB6-3488-6EFF-130803546AF6}"/>
              </a:ext>
            </a:extLst>
          </p:cNvPr>
          <p:cNvSpPr txBox="1"/>
          <p:nvPr/>
        </p:nvSpPr>
        <p:spPr>
          <a:xfrm>
            <a:off x="889000" y="4953000"/>
            <a:ext cx="1041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A9A795"/>
                </a:solidFill>
                <a:latin typeface="Calibri" panose="020F0502020204030204" pitchFamily="34" charset="0"/>
              </a:rPr>
              <a:t>The live demonstration follows: browse the menu, place an order, settle it at the counter, and watch the sale appear on the owner dashboard.</a:t>
            </a:r>
            <a:endParaRPr lang="en-PH" sz="1400">
              <a:solidFill>
                <a:srgbClr val="A9A795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CF46AF-1A25-B9DA-BA6E-2C14BD4D803F}"/>
              </a:ext>
            </a:extLst>
          </p:cNvPr>
          <p:cNvSpPr txBox="1"/>
          <p:nvPr/>
        </p:nvSpPr>
        <p:spPr>
          <a:xfrm>
            <a:off x="889000" y="5791200"/>
            <a:ext cx="1041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600" b="1">
                <a:solidFill>
                  <a:srgbClr val="E8A84A"/>
                </a:solidFill>
                <a:latin typeface="Georgia" panose="02040502050405020303" pitchFamily="18" charset="0"/>
              </a:rPr>
              <a:t>Salamat po.</a:t>
            </a:r>
          </a:p>
        </p:txBody>
      </p:sp>
    </p:spTree>
    <p:extLst>
      <p:ext uri="{BB962C8B-B14F-4D97-AF65-F5344CB8AC3E}">
        <p14:creationId xmlns:p14="http://schemas.microsoft.com/office/powerpoint/2010/main" val="2488551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1305</Words>
  <Application>Microsoft Office PowerPoint</Application>
  <PresentationFormat>Custom</PresentationFormat>
  <Paragraphs>106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Canlapan, Jhon Kyle</dc:creator>
  <cp:lastModifiedBy>Canlapan, Jhon Kyle</cp:lastModifiedBy>
  <cp:revision>1</cp:revision>
  <dcterms:created xsi:type="dcterms:W3CDTF">2026-08-05T17:08:34Z</dcterms:created>
  <dcterms:modified xsi:type="dcterms:W3CDTF">2026-08-05T17:08:34Z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2026-08-05T17:08:34Z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f7e400a8-bd22-4c2f-a6d4-084c52851e17</vt:lpwstr>
  </property>
  <property fmtid="{D5CDD505-2E9C-101B-9397-08002B2CF9AE}" pid="8" name="MSIP_Label_8a813f4b-519a-4481-a498-85770f517757_ContentBits">
    <vt:lpwstr>0</vt:lpwstr>
  </property>
  <property fmtid="{D5CDD505-2E9C-101B-9397-08002B2CF9AE}" pid="9" name="MSIP_Label_8a813f4b-519a-4481-a498-85770f517757_Tag">
    <vt:lpwstr>10, 3, 0, 1</vt:lpwstr>
  </property>
</Properties>
</file>