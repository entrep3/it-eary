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0049-CE35-ACCA-D7AF-8213D6E25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B1AF3-B372-C657-D252-3B67A57A3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8C91E-493E-51B0-30DE-0F7C64E2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B256A-979F-0272-5D7D-F1343418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1644A-8DFE-D2F9-63A6-B7C110E9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546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AADD-E8A6-1DD1-EB0B-F06C8F24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E0449-4CC1-2425-ABEE-28E1E3A5B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4CF92-7CD4-46EC-F4FD-925B0001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2FCB-9DA2-E413-B06B-0CC5A9F3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FF17-6555-9F0D-2FCA-DA4E2B0B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54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E0C1-0626-3B84-2469-5384CBA4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76881-A917-41AE-BEEB-9DC8E2B2C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4D5B-9C63-73C1-5546-228FC279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3AA80-D8F4-7098-5FD9-4DBF07E5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368EE-2631-577B-8750-F8F6DD35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196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41BB-2CDE-CC6C-ADA5-BCA4F148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B36A-EF25-2A63-196C-571097CDB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CEA5B-311B-0BF0-6ED8-37AD958A6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89F7B-EB9F-C5C6-08DA-D09BC47F2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2E491-A8DB-5DC3-2C45-AD2B96CC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B8C4A-3536-CC57-8582-97D881FA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766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73CD-566E-DAF4-40A5-97F310A0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4D5C-BF46-F05C-D87A-A861B9E97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C9E6D-DA88-B366-EEDA-40E91F0EE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436B0-CB6C-A544-D25D-413BB888E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E96FA-2899-F620-957C-60552D8E0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098D4-5B87-CEC5-3230-D191B87A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E0AEAB-245D-3E8A-C7FE-27C20298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6FD7E-FEF5-A39C-E8B7-A5360023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030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01AD-7572-0782-1777-FA38FC3B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24037-A540-AA90-B519-1BE5F656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EE732-F78F-7082-9F94-1B527939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064C3-9277-649F-585E-5C6BDFF2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881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41BF1-CF0F-E05F-4750-04956BBC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8CB55-CCAD-A604-A40E-E3B9411C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7F22C-C5E8-AF30-11FE-E1D134F3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59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3665-716C-3063-F140-CF58EC5D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EA43-AE44-84FC-EBC5-C3A239436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AF1D5-3776-8416-50CD-F9001FB2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2F6D2-F978-3851-0823-2916745B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9780-55A9-3168-767F-8C1CC551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4C9F9-FD8D-7EA9-8769-8D903A7A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44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0550-F35D-DEAF-F1F8-29A71051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FDF79-5EEB-AE43-4B79-4929465BA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C689E-465B-CFA3-DD0C-7332FC238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CB6D9-B10A-0E26-5206-C12D9C0E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63247-6D0E-D988-A526-1EC8D39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695A6-40D7-63BA-BBC9-F96981FA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88909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ACD5-C8DE-5E26-5A31-BF88CDA3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1F1B9-B507-E18A-CCDF-AC75FB5DF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2C3D3-7C06-E1A8-6820-12A75BE4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5D40-AF72-9EA0-F135-DED9E518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9701-5F27-DEF1-3258-F311D49D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917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D36E0-0AD1-8B46-500A-4FAE891A3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4A271-BFDB-C69F-2AC5-726196C1A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0DE9E-8B44-279F-6AFF-A08323B73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6436D-3BFB-C9D8-0046-64720674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DA5B9-FE5E-C2B3-424D-05629F37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548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8FEB6-7D43-A646-EF8A-A12D1EF4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6F1FE-2015-03CE-1876-D407F3C60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750F2-4EBB-6099-8309-CBC350BBB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FDB77-6736-4A48-A906-35A6E2D64751}" type="datetimeFigureOut">
              <a:rPr lang="en-PH" smtClean="0"/>
              <a:t>8/4/2026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E758-492C-CA58-4650-BC8EE99C5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EEA6-A099-74D4-9CA8-D0233CB69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1D688-9462-4E44-8705-8D766F50911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83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087473-020C-428A-BAB2-504B73CC4F16}"/>
              </a:ext>
            </a:extLst>
          </p:cNvPr>
          <p:cNvSpPr txBox="1"/>
          <p:nvPr/>
        </p:nvSpPr>
        <p:spPr>
          <a:xfrm>
            <a:off x="889000" y="17780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100" b="1">
                <a:solidFill>
                  <a:srgbClr val="E8A84A"/>
                </a:solidFill>
                <a:latin typeface="Calibri" panose="020F0502020204030204" pitchFamily="34" charset="0"/>
              </a:rPr>
              <a:t>LABORATORY EXERCISE 3  -  E-COMMERCE BUSINESS PRESENCE ENHANCEMENT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4E437-CE2F-446C-D972-EF32B6937790}"/>
              </a:ext>
            </a:extLst>
          </p:cNvPr>
          <p:cNvSpPr txBox="1"/>
          <p:nvPr/>
        </p:nvSpPr>
        <p:spPr>
          <a:xfrm>
            <a:off x="889000" y="2286000"/>
            <a:ext cx="10160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E8DFC8"/>
                </a:solidFill>
                <a:latin typeface="Georgia" panose="02040502050405020303" pitchFamily="18" charset="0"/>
              </a:rPr>
              <a:t>Strengthening the business</a:t>
            </a:r>
          </a:p>
          <a:p>
            <a:r>
              <a:rPr lang="en-US" sz="4400" b="1">
                <a:solidFill>
                  <a:srgbClr val="E8DFC8"/>
                </a:solidFill>
                <a:latin typeface="Georgia" panose="02040502050405020303" pitchFamily="18" charset="0"/>
              </a:rPr>
              <a:t>presence of Bencris</a:t>
            </a:r>
            <a:endParaRPr lang="en-PH" sz="4400" b="1">
              <a:solidFill>
                <a:srgbClr val="E8DFC8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06D739-3241-6589-5C74-112B2E6E006A}"/>
              </a:ext>
            </a:extLst>
          </p:cNvPr>
          <p:cNvCxnSpPr/>
          <p:nvPr/>
        </p:nvCxnSpPr>
        <p:spPr>
          <a:xfrm>
            <a:off x="889000" y="4089400"/>
            <a:ext cx="1905000" cy="0"/>
          </a:xfrm>
          <a:prstGeom prst="line">
            <a:avLst/>
          </a:prstGeom>
          <a:ln w="38100">
            <a:solidFill>
              <a:srgbClr val="E8A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278E10A-D85D-B505-B724-6145EE9A52CB}"/>
              </a:ext>
            </a:extLst>
          </p:cNvPr>
          <p:cNvSpPr txBox="1"/>
          <p:nvPr/>
        </p:nvSpPr>
        <p:spPr>
          <a:xfrm>
            <a:off x="889000" y="43688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A9A795"/>
                </a:solidFill>
                <a:latin typeface="Calibri" panose="020F0502020204030204" pitchFamily="34" charset="0"/>
              </a:rPr>
              <a:t>Bencris is a local eatery inside Dasmariñas Bayan, Cavite. It has no website, no page or link a customer could open, no social media and no point-of-sale system. This presentation assesses how the business operates today and plans an online presence that costs nothing to run.</a:t>
            </a:r>
            <a:endParaRPr lang="en-PH" sz="1400">
              <a:solidFill>
                <a:srgbClr val="A9A79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8DD88-2DDA-98DA-24D7-803708C22EC4}"/>
              </a:ext>
            </a:extLst>
          </p:cNvPr>
          <p:cNvSpPr txBox="1"/>
          <p:nvPr/>
        </p:nvSpPr>
        <p:spPr>
          <a:xfrm>
            <a:off x="889000" y="57912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7B7A6C"/>
                </a:solidFill>
                <a:latin typeface="Calibri" panose="020F0502020204030204" pitchFamily="34" charset="0"/>
              </a:rPr>
              <a:t>Presented by [Member 1], [Member 2], [Member 3], [Member 4] and [Member 5]</a:t>
            </a:r>
            <a:endParaRPr lang="en-PH" sz="1100">
              <a:solidFill>
                <a:srgbClr val="7B7A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3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20F58-135E-AADA-571A-1CA81B341FF8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100" b="1">
                <a:solidFill>
                  <a:srgbClr val="C8442A"/>
                </a:solidFill>
                <a:latin typeface="Calibri" panose="020F0502020204030204" pitchFamily="34" charset="0"/>
              </a:rPr>
              <a:t>CLIENT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18152-805C-7AEB-58CD-F9BFC0ADACF9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A business with nothing online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B14D4C-E560-4F28-149B-84DC4A9ECD93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187148-71B1-95B6-85EA-A87DA1DDAD11}"/>
              </a:ext>
            </a:extLst>
          </p:cNvPr>
          <p:cNvSpPr txBox="1"/>
          <p:nvPr/>
        </p:nvSpPr>
        <p:spPr>
          <a:xfrm>
            <a:off x="762000" y="1828800"/>
            <a:ext cx="6350000" cy="19186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•  Bencris is a counter-service eatery inside Dasmariñas Bayan, Cavite.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•  There is no website, and no link a customer can open, save or send to a friend.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•  There is no social media, no point-of-sale, no inventory system, and no record of sales or profit.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•  Ordering is entirely manual: the diner walks up, looks at what is left in the trays, and orders whatever is still there.</a:t>
            </a:r>
            <a:endParaRPr lang="en-PH" sz="14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C74801-3CB3-EB9B-F28C-2A1E9358A563}"/>
              </a:ext>
            </a:extLst>
          </p:cNvPr>
          <p:cNvSpPr/>
          <p:nvPr/>
        </p:nvSpPr>
        <p:spPr>
          <a:xfrm>
            <a:off x="7569200" y="1828800"/>
            <a:ext cx="3860800" cy="33020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C844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FEDB1-E83B-AF86-099D-2B373EA4511B}"/>
              </a:ext>
            </a:extLst>
          </p:cNvPr>
          <p:cNvSpPr txBox="1"/>
          <p:nvPr/>
        </p:nvSpPr>
        <p:spPr>
          <a:xfrm>
            <a:off x="7874000" y="2108200"/>
            <a:ext cx="3276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8442A"/>
                </a:solidFill>
                <a:latin typeface="Calibri" panose="020F0502020204030204" pitchFamily="34" charset="0"/>
              </a:rPr>
              <a:t>THE PROBLEM THE CLIENT NAMED</a:t>
            </a:r>
            <a:endParaRPr lang="en-PH" sz="10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BE17F-B9C5-9704-C7C2-7C90DF7A2DA1}"/>
              </a:ext>
            </a:extLst>
          </p:cNvPr>
          <p:cNvSpPr txBox="1"/>
          <p:nvPr/>
        </p:nvSpPr>
        <p:spPr>
          <a:xfrm>
            <a:off x="7874000" y="2489200"/>
            <a:ext cx="32766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A diner only finds out that the ulam they came for has run out once they are already standing at the counter.</a:t>
            </a:r>
          </a:p>
          <a:p>
            <a:endParaRPr lang="en-US" sz="1400">
              <a:solidFill>
                <a:srgbClr val="2A1810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2A1810"/>
                </a:solidFill>
                <a:latin typeface="Calibri" panose="020F0502020204030204" pitchFamily="34" charset="0"/>
              </a:rPr>
              <a:t>The trip is wasted, and the customer often leaves without buying anything at all.</a:t>
            </a:r>
            <a:endParaRPr lang="en-PH" sz="14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F8168-E1A1-392D-5B77-94C1FA4C3686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0D5C1-3660-E6EA-CF37-B62EC7205107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2418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7421E-1850-13E4-B594-22735F774F1F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1  -  BUSINESS PRESENCE ASSESSMENT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02AFA-E8EE-FFB3-8F73-7E79C484A0DF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What we observed on site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4BA20C-6619-5C55-21A7-2CE444C0A9F1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FD21B5-0457-724F-5727-639FA00F01B4}"/>
              </a:ext>
            </a:extLst>
          </p:cNvPr>
          <p:cNvSpPr txBox="1"/>
          <p:nvPr/>
        </p:nvSpPr>
        <p:spPr>
          <a:xfrm>
            <a:off x="762000" y="1828800"/>
            <a:ext cx="5080000" cy="20491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The menu is the trays on the counter, so availability exists only inside the room.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Diners decide and queue in the same place, so the queue moves at the speed of indecision.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Trays run empty in the middle of service. This is the wasted trip, photographed.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Payment is a cash box. There is no register, and no receipt is ever issued.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BA7A9-693E-2BC7-F1E8-D50984500829}"/>
              </a:ext>
            </a:extLst>
          </p:cNvPr>
          <p:cNvSpPr txBox="1"/>
          <p:nvPr/>
        </p:nvSpPr>
        <p:spPr>
          <a:xfrm>
            <a:off x="6350000" y="1828800"/>
            <a:ext cx="5080000" cy="18090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For GCash, a staff member manually photographs the customer's payment screen on their own phone.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That photo is the only proof the transfer happened, and it is attached to no order at all.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Orders and takings are written on paper, or are not recorded anywhere.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Searching the business name online returns nothing owned by Bencris.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D9440-2622-1360-7015-FE99980A52E7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15F86-67CC-C0B8-EB8F-F706542589E6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1549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51A6E-532E-2B96-B2B3-B8E37278F4AE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1  -  BUSINESS PRESENCE ASSESSMENT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A4BAD-3AD2-5443-D354-683B63FEC40B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Strengths to build on, and the gaps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A65A41-CA77-6DE6-A90F-C57E41C05FAB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678CE1-F1F1-408F-FAD3-5C5722916A01}"/>
              </a:ext>
            </a:extLst>
          </p:cNvPr>
          <p:cNvSpPr txBox="1"/>
          <p:nvPr/>
        </p:nvSpPr>
        <p:spPr>
          <a:xfrm>
            <a:off x="762000" y="17526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C8442A"/>
                </a:solidFill>
                <a:latin typeface="Calibri" panose="020F0502020204030204" pitchFamily="34" charset="0"/>
              </a:rPr>
              <a:t>STRENGTHS AN ONLINE PRESENCE CAN AMPLIFY</a:t>
            </a:r>
            <a:endParaRPr lang="en-PH" sz="10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4EB0C-A3A9-8D40-0317-929FC6EF8A16}"/>
              </a:ext>
            </a:extLst>
          </p:cNvPr>
          <p:cNvSpPr txBox="1"/>
          <p:nvPr/>
        </p:nvSpPr>
        <p:spPr>
          <a:xfrm>
            <a:off x="762000" y="2082800"/>
            <a:ext cx="5080000" cy="19373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An established location with steady passing trade every day.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A base of regular suki who already return without any marketing.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A varied, freshly cooked menu, with enough range to make an online menu worth opening.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GCash is already accepted, and staff already photograph every transfer.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Word of mouth already brings in new customers, in person.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CBBA6-B3AA-0000-D5A4-AAF2C9AABF3C}"/>
              </a:ext>
            </a:extLst>
          </p:cNvPr>
          <p:cNvSpPr txBox="1"/>
          <p:nvPr/>
        </p:nvSpPr>
        <p:spPr>
          <a:xfrm>
            <a:off x="6350000" y="17526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000" b="1">
                <a:solidFill>
                  <a:srgbClr val="C8442A"/>
                </a:solidFill>
                <a:latin typeface="Calibri" panose="020F0502020204030204" pitchFamily="34" charset="0"/>
              </a:rPr>
              <a:t>OPPORTUNITIES FOR IMPROVEMENT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95D4D-E6EF-EA54-7F38-B3B334A6C1B4}"/>
              </a:ext>
            </a:extLst>
          </p:cNvPr>
          <p:cNvSpPr txBox="1"/>
          <p:nvPr/>
        </p:nvSpPr>
        <p:spPr>
          <a:xfrm>
            <a:off x="6350000" y="2082800"/>
            <a:ext cx="5080000" cy="19373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There is nothing online for a customer to reach at all.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Availability cannot be known before making the trip to the store.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Nothing exists that could spread, so word of mouth stops at a conversation.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Without demand data, how much to cook each day remains guesswork.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The GCash record is a photo on a personal phone that nobody can audit.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C6B1F-EF89-C929-7413-A28277531F45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DD491-9100-26A5-24AA-BE07D241D55F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719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90562-77BB-6BA6-1921-FD039E727507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2  -  BUSINESS PRESENCE IMPROVEMENT PLAN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DA9F5-755C-291E-183B-F631D322E2F3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Growth built into the product itself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4D041E-9FF7-7583-EE73-BAE8CCAFA898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3148AB-6486-E64F-0545-C9F82DA3C736}"/>
              </a:ext>
            </a:extLst>
          </p:cNvPr>
          <p:cNvSpPr txBox="1"/>
          <p:nvPr/>
        </p:nvSpPr>
        <p:spPr>
          <a:xfrm>
            <a:off x="762000" y="18034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B5546"/>
                </a:solidFill>
                <a:latin typeface="Calibri" panose="020F0502020204030204" pitchFamily="34" charset="0"/>
              </a:rPr>
              <a:t>There is no social page to maintain. The website itself is the marketing channel, and every mechanism below is free to run.</a:t>
            </a:r>
            <a:endParaRPr lang="en-PH" sz="13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2AEDB9-33E9-F655-525F-29F8AD65448F}"/>
              </a:ext>
            </a:extLst>
          </p:cNvPr>
          <p:cNvSpPr/>
          <p:nvPr/>
        </p:nvSpPr>
        <p:spPr>
          <a:xfrm>
            <a:off x="762000" y="22352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78D-247E-4B26-6D27-C089B4AE92E8}"/>
              </a:ext>
            </a:extLst>
          </p:cNvPr>
          <p:cNvSpPr txBox="1"/>
          <p:nvPr/>
        </p:nvSpPr>
        <p:spPr>
          <a:xfrm>
            <a:off x="990600" y="24384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400" b="1">
                <a:solidFill>
                  <a:srgbClr val="2A1810"/>
                </a:solidFill>
                <a:latin typeface="Georgia" panose="02040502050405020303" pitchFamily="18" charset="0"/>
              </a:rPr>
              <a:t>Shareable menu link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666F2-42F6-9EF8-10F8-D2C41132DF81}"/>
              </a:ext>
            </a:extLst>
          </p:cNvPr>
          <p:cNvSpPr txBox="1"/>
          <p:nvPr/>
        </p:nvSpPr>
        <p:spPr>
          <a:xfrm>
            <a:off x="990600" y="2794000"/>
            <a:ext cx="29718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The link previews with the shop name and a dish photo, so a diner can drop Bencris into a group chat in one tap.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F6FBDA-2757-98B2-1BE5-43515F700BE9}"/>
              </a:ext>
            </a:extLst>
          </p:cNvPr>
          <p:cNvSpPr/>
          <p:nvPr/>
        </p:nvSpPr>
        <p:spPr>
          <a:xfrm>
            <a:off x="4445000" y="22352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DAF2B-1155-A70D-A775-BF2BAB67F01E}"/>
              </a:ext>
            </a:extLst>
          </p:cNvPr>
          <p:cNvSpPr txBox="1"/>
          <p:nvPr/>
        </p:nvSpPr>
        <p:spPr>
          <a:xfrm>
            <a:off x="4673600" y="24384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400" b="1">
                <a:solidFill>
                  <a:srgbClr val="2A1810"/>
                </a:solidFill>
                <a:latin typeface="Georgia" panose="02040502050405020303" pitchFamily="18" charset="0"/>
              </a:rPr>
              <a:t>Share on the receipt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774B7-0ABD-F55E-7F4F-C4683F2AEAA1}"/>
              </a:ext>
            </a:extLst>
          </p:cNvPr>
          <p:cNvSpPr txBox="1"/>
          <p:nvPr/>
        </p:nvSpPr>
        <p:spPr>
          <a:xfrm>
            <a:off x="4673600" y="2794000"/>
            <a:ext cx="297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A Share action on the receipt turns every satisfied diner into a distribution channel at no cost.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6798FE-097E-1AFA-663E-A5A2DD3A081C}"/>
              </a:ext>
            </a:extLst>
          </p:cNvPr>
          <p:cNvSpPr/>
          <p:nvPr/>
        </p:nvSpPr>
        <p:spPr>
          <a:xfrm>
            <a:off x="8128000" y="22352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54B71-25EE-92A8-7D5C-D12307CAFF4E}"/>
              </a:ext>
            </a:extLst>
          </p:cNvPr>
          <p:cNvSpPr txBox="1"/>
          <p:nvPr/>
        </p:nvSpPr>
        <p:spPr>
          <a:xfrm>
            <a:off x="8356600" y="24384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400" b="1">
                <a:solidFill>
                  <a:srgbClr val="2A1810"/>
                </a:solidFill>
                <a:latin typeface="Georgia" panose="02040502050405020303" pitchFamily="18" charset="0"/>
              </a:rPr>
              <a:t>Referral codes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31B82-F3C5-F881-409C-0D82EE5D5470}"/>
              </a:ext>
            </a:extLst>
          </p:cNvPr>
          <p:cNvSpPr txBox="1"/>
          <p:nvPr/>
        </p:nvSpPr>
        <p:spPr>
          <a:xfrm>
            <a:off x="8356600" y="2794000"/>
            <a:ext cx="29718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A personal code rewards the diner who brings a friend, and costs a discount only when it produces a sale.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F65EAB-9C63-F58D-D782-75D97F896B8C}"/>
              </a:ext>
            </a:extLst>
          </p:cNvPr>
          <p:cNvSpPr/>
          <p:nvPr/>
        </p:nvSpPr>
        <p:spPr>
          <a:xfrm>
            <a:off x="762000" y="42926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2CC83-8933-1375-1E41-026BFC4C19B5}"/>
              </a:ext>
            </a:extLst>
          </p:cNvPr>
          <p:cNvSpPr txBox="1"/>
          <p:nvPr/>
        </p:nvSpPr>
        <p:spPr>
          <a:xfrm>
            <a:off x="990600" y="44958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2A1810"/>
                </a:solidFill>
                <a:latin typeface="Georgia" panose="02040502050405020303" pitchFamily="18" charset="0"/>
              </a:rPr>
              <a:t>QR code at the counter</a:t>
            </a:r>
            <a:endParaRPr lang="en-PH" sz="14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19F86-3BC5-B113-729B-C847234905AC}"/>
              </a:ext>
            </a:extLst>
          </p:cNvPr>
          <p:cNvSpPr txBox="1"/>
          <p:nvPr/>
        </p:nvSpPr>
        <p:spPr>
          <a:xfrm>
            <a:off x="990600" y="4851400"/>
            <a:ext cx="297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A QR displayed at the counter turns today's walk-in customer into tomorrow's online order.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6A6B5E6-34CC-ABE4-804B-02BB902A211F}"/>
              </a:ext>
            </a:extLst>
          </p:cNvPr>
          <p:cNvSpPr/>
          <p:nvPr/>
        </p:nvSpPr>
        <p:spPr>
          <a:xfrm>
            <a:off x="4445000" y="42926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108558-3189-071C-E430-F0E3AB02229B}"/>
              </a:ext>
            </a:extLst>
          </p:cNvPr>
          <p:cNvSpPr txBox="1"/>
          <p:nvPr/>
        </p:nvSpPr>
        <p:spPr>
          <a:xfrm>
            <a:off x="4673600" y="44958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400" b="1">
                <a:solidFill>
                  <a:srgbClr val="2A1810"/>
                </a:solidFill>
                <a:latin typeface="Georgia" panose="02040502050405020303" pitchFamily="18" charset="0"/>
              </a:rPr>
              <a:t>Timed promotional codes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C1F19D-5D30-4A44-C0FE-5BD612D65B35}"/>
              </a:ext>
            </a:extLst>
          </p:cNvPr>
          <p:cNvSpPr txBox="1"/>
          <p:nvPr/>
        </p:nvSpPr>
        <p:spPr>
          <a:xfrm>
            <a:off x="4673600" y="4851400"/>
            <a:ext cx="297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A code such as HAPON15 runs only between 2 and 4 PM, pulling demand into the quiet hours.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A024BE-69E7-D2F5-B8FF-84A28920904B}"/>
              </a:ext>
            </a:extLst>
          </p:cNvPr>
          <p:cNvSpPr/>
          <p:nvPr/>
        </p:nvSpPr>
        <p:spPr>
          <a:xfrm>
            <a:off x="8128000" y="4292600"/>
            <a:ext cx="3429000" cy="18796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8E792F-C2B1-3D0D-E441-2ED216193894}"/>
              </a:ext>
            </a:extLst>
          </p:cNvPr>
          <p:cNvSpPr txBox="1"/>
          <p:nvPr/>
        </p:nvSpPr>
        <p:spPr>
          <a:xfrm>
            <a:off x="8356600" y="4495800"/>
            <a:ext cx="297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400" b="1">
                <a:solidFill>
                  <a:srgbClr val="2A1810"/>
                </a:solidFill>
                <a:latin typeface="Georgia" panose="02040502050405020303" pitchFamily="18" charset="0"/>
              </a:rPr>
              <a:t>Verified reviews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C5B8D7-22DA-D4FA-C824-810C5852DD54}"/>
              </a:ext>
            </a:extLst>
          </p:cNvPr>
          <p:cNvSpPr txBox="1"/>
          <p:nvPr/>
        </p:nvSpPr>
        <p:spPr>
          <a:xfrm>
            <a:off x="8356600" y="4851400"/>
            <a:ext cx="297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B5546"/>
                </a:solidFill>
                <a:latin typeface="Calibri" panose="020F0502020204030204" pitchFamily="34" charset="0"/>
              </a:rPr>
              <a:t>Only a ticket code that was actually paid can leave a rating, so the reviews cannot be faked.</a:t>
            </a:r>
            <a:endParaRPr lang="en-PH" sz="11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D95C42-16FF-85BD-A490-A04CC78441DD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076F01-8197-CC0D-43A3-968C1D862F65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3594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32719-E65B-DE83-BAC7-5F668E1974AA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3  -  CUSTOMER JOURNEY MAPPING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F8D14-C4EC-A2F4-9520-BEE2FBCDAB99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Fifteen stages, and two loops that close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396E45-F8C6-AC51-05DA-C52A1EABD1EA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E134DE-4EDE-0527-42BB-F098A613316A}"/>
              </a:ext>
            </a:extLst>
          </p:cNvPr>
          <p:cNvSpPr txBox="1"/>
          <p:nvPr/>
        </p:nvSpPr>
        <p:spPr>
          <a:xfrm>
            <a:off x="762000" y="2032000"/>
            <a:ext cx="4826000" cy="16808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Discovery now has three doors: a link forwarded in a chat, the QR at the counter, or a web search.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The journey branches at payment. A GCash diner uploads their receipt, while a cash diner goes straight to the counter.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Two loops close the journey: a reorder returns the diner to Browse, and a shared receipt starts a new person at Discover.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8D116-2DC2-41E5-558E-53EA7F036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109" y="1244600"/>
            <a:ext cx="5583891" cy="502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73ED8A-934C-9B03-1DFC-2152BA5377DD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E895C-A65E-90DF-894D-4820E201DA9E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225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3B8F31-0CA9-29DA-D968-DE8E219EA570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4  -  WEBSITE OPERATIONS PLAN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2F17E-8F3B-3C25-B211-3DD59AAAA788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Developing and launching the website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B621B2-3DE3-252B-947A-21662FF94B74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2C141E-E81A-3C81-9B18-228857143CD8}"/>
              </a:ext>
            </a:extLst>
          </p:cNvPr>
          <p:cNvSpPr txBox="1"/>
          <p:nvPr/>
        </p:nvSpPr>
        <p:spPr>
          <a:xfrm>
            <a:off x="762000" y="17780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B5546"/>
                </a:solidFill>
                <a:latin typeface="Calibri" panose="020F0502020204030204" pitchFamily="34" charset="0"/>
              </a:rPr>
              <a:t>Every activity below is owned by a named member, has a timeline, and leaves evidence behind.</a:t>
            </a:r>
            <a:endParaRPr lang="en-PH" sz="12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D7C6A0-041F-C306-EF5F-A1776E22B1F9}"/>
              </a:ext>
            </a:extLst>
          </p:cNvPr>
          <p:cNvSpPr/>
          <p:nvPr/>
        </p:nvSpPr>
        <p:spPr>
          <a:xfrm>
            <a:off x="762000" y="21590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AA8092-A23A-F00B-131E-5CD9DEF2DF98}"/>
              </a:ext>
            </a:extLst>
          </p:cNvPr>
          <p:cNvSpPr txBox="1"/>
          <p:nvPr/>
        </p:nvSpPr>
        <p:spPr>
          <a:xfrm>
            <a:off x="990600" y="23876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000" b="1">
                <a:solidFill>
                  <a:srgbClr val="C8442A"/>
                </a:solidFill>
                <a:latin typeface="Calibri" panose="020F0502020204030204" pitchFamily="34" charset="0"/>
              </a:rPr>
              <a:t>DEVELOPMENT ACTIVITIES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11B4C-BE53-DECC-B47B-0E88D50E5649}"/>
              </a:ext>
            </a:extLst>
          </p:cNvPr>
          <p:cNvSpPr txBox="1"/>
          <p:nvPr/>
        </p:nvSpPr>
        <p:spPr>
          <a:xfrm>
            <a:off x="990600" y="2692400"/>
            <a:ext cx="29718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Interview the owner and observe a full service at the store.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Design the database and put the ordering rules in PostgreSQL.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Build the customer storefront, the counter screen and the owner dashboard.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Build the proof-of-payment flow and the promotional code engine.</a:t>
            </a:r>
            <a:endParaRPr lang="en-PH" sz="11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32CE2-FBDF-05AC-3094-30601B588B80}"/>
              </a:ext>
            </a:extLst>
          </p:cNvPr>
          <p:cNvSpPr txBox="1"/>
          <p:nvPr/>
        </p:nvSpPr>
        <p:spPr>
          <a:xfrm>
            <a:off x="990600" y="50292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B5546"/>
                </a:solidFill>
                <a:latin typeface="Calibri" panose="020F0502020204030204" pitchFamily="34" charset="0"/>
              </a:rPr>
              <a:t>[Member 1] and [Member 2]</a:t>
            </a:r>
            <a:endParaRPr lang="en-PH" sz="1000" b="1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68476E-E02D-82E0-061B-F86A3B463659}"/>
              </a:ext>
            </a:extLst>
          </p:cNvPr>
          <p:cNvSpPr/>
          <p:nvPr/>
        </p:nvSpPr>
        <p:spPr>
          <a:xfrm>
            <a:off x="4445000" y="21590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598D3-C758-92A9-DAC4-F00CAD065CB2}"/>
              </a:ext>
            </a:extLst>
          </p:cNvPr>
          <p:cNvSpPr txBox="1"/>
          <p:nvPr/>
        </p:nvSpPr>
        <p:spPr>
          <a:xfrm>
            <a:off x="4673600" y="23876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000" b="1">
                <a:solidFill>
                  <a:srgbClr val="C8442A"/>
                </a:solidFill>
                <a:latin typeface="Calibri" panose="020F0502020204030204" pitchFamily="34" charset="0"/>
              </a:rPr>
              <a:t>LAUNCH ACTIVITIES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9FD96-76FE-D27D-F75F-6DE10CD84D7E}"/>
              </a:ext>
            </a:extLst>
          </p:cNvPr>
          <p:cNvSpPr txBox="1"/>
          <p:nvPr/>
        </p:nvSpPr>
        <p:spPr>
          <a:xfrm>
            <a:off x="4673600" y="2692400"/>
            <a:ext cx="2971800" cy="11849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Photograph every dish and write descriptions in Tagalog and English.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Add search visibility and proper link previews.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Build the share action, the counter QR and the referral codes.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Deploy the site to free hosting with a public address.</a:t>
            </a:r>
            <a:endParaRPr lang="en-PH" sz="11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8B092-FA3C-2BE2-7FEF-59FAEEC4D41F}"/>
              </a:ext>
            </a:extLst>
          </p:cNvPr>
          <p:cNvSpPr txBox="1"/>
          <p:nvPr/>
        </p:nvSpPr>
        <p:spPr>
          <a:xfrm>
            <a:off x="4673600" y="50292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000" b="1">
                <a:solidFill>
                  <a:srgbClr val="6B5546"/>
                </a:solidFill>
                <a:latin typeface="Calibri" panose="020F0502020204030204" pitchFamily="34" charset="0"/>
              </a:rPr>
              <a:t>[Member 3]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0709C6-F366-9BC9-17C8-E0E2CAC55F70}"/>
              </a:ext>
            </a:extLst>
          </p:cNvPr>
          <p:cNvSpPr/>
          <p:nvPr/>
        </p:nvSpPr>
        <p:spPr>
          <a:xfrm>
            <a:off x="8128000" y="21590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FBF4E3"/>
          </a:solidFill>
          <a:ln w="12700">
            <a:solidFill>
              <a:srgbClr val="D8C8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D1F08-1F4E-D9E4-7B30-F45A8FC324E3}"/>
              </a:ext>
            </a:extLst>
          </p:cNvPr>
          <p:cNvSpPr txBox="1"/>
          <p:nvPr/>
        </p:nvSpPr>
        <p:spPr>
          <a:xfrm>
            <a:off x="8356600" y="23876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000" b="1">
                <a:solidFill>
                  <a:srgbClr val="C8442A"/>
                </a:solidFill>
                <a:latin typeface="Calibri" panose="020F0502020204030204" pitchFamily="34" charset="0"/>
              </a:rPr>
              <a:t>TESTING AND HANDOVER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E7FE6-F3B4-60B0-0994-C73118573806}"/>
              </a:ext>
            </a:extLst>
          </p:cNvPr>
          <p:cNvSpPr txBox="1"/>
          <p:nvPr/>
        </p:nvSpPr>
        <p:spPr>
          <a:xfrm>
            <a:off x="8356600" y="2692400"/>
            <a:ext cx="29718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Run the three backend test suites and the mobile test suite.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Walk the whole diner-to-owner path by hand on a phone.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Train the owner and leave a one-page cheat sheet behind.</a:t>
            </a:r>
          </a:p>
          <a:p>
            <a:r>
              <a:rPr lang="en-US" sz="1100">
                <a:solidFill>
                  <a:srgbClr val="2A1810"/>
                </a:solidFill>
                <a:latin typeface="Calibri" panose="020F0502020204030204" pitchFamily="34" charset="0"/>
              </a:rPr>
              <a:t>Produce the worksheet, the journey diagram and this deck.</a:t>
            </a:r>
            <a:endParaRPr lang="en-PH" sz="11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CF6E2-7287-1166-3BD5-6D6D935340F3}"/>
              </a:ext>
            </a:extLst>
          </p:cNvPr>
          <p:cNvSpPr txBox="1"/>
          <p:nvPr/>
        </p:nvSpPr>
        <p:spPr>
          <a:xfrm>
            <a:off x="8356600" y="5029200"/>
            <a:ext cx="2971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B5546"/>
                </a:solidFill>
                <a:latin typeface="Calibri" panose="020F0502020204030204" pitchFamily="34" charset="0"/>
              </a:rPr>
              <a:t>[Member 4] and [Member 5]</a:t>
            </a:r>
            <a:endParaRPr lang="en-PH" sz="1000" b="1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424F96-ABAA-27CF-DCE1-D499765010C2}"/>
              </a:ext>
            </a:extLst>
          </p:cNvPr>
          <p:cNvSpPr txBox="1"/>
          <p:nvPr/>
        </p:nvSpPr>
        <p:spPr>
          <a:xfrm>
            <a:off x="762000" y="55880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B5546"/>
                </a:solidFill>
                <a:latin typeface="Calibri" panose="020F0502020204030204" pitchFamily="34" charset="0"/>
              </a:rPr>
              <a:t>Timeline: four weeks, running from the week of 4 August 2026.</a:t>
            </a:r>
            <a:endParaRPr lang="en-PH" sz="12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523E2-AB59-C0FD-B4DD-DD070ED16F8B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EAF7E6-A9B7-177E-E03F-88FC73253318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0425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82B48-5090-CF06-0571-D44D3448D0CE}"/>
              </a:ext>
            </a:extLst>
          </p:cNvPr>
          <p:cNvSpPr txBox="1"/>
          <p:nvPr/>
        </p:nvSpPr>
        <p:spPr>
          <a:xfrm>
            <a:off x="762000" y="508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8442A"/>
                </a:solidFill>
                <a:latin typeface="Calibri" panose="020F0502020204030204" pitchFamily="34" charset="0"/>
              </a:rPr>
              <a:t>PART 4  -  WEBSITE OPERATIONS PLAN</a:t>
            </a:r>
            <a:endParaRPr lang="en-PH" sz="1100" b="1">
              <a:solidFill>
                <a:srgbClr val="C844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75E8F-0AB6-67C8-C8FC-0D7579D59022}"/>
              </a:ext>
            </a:extLst>
          </p:cNvPr>
          <p:cNvSpPr txBox="1"/>
          <p:nvPr/>
        </p:nvSpPr>
        <p:spPr>
          <a:xfrm>
            <a:off x="762000" y="7874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A1810"/>
                </a:solidFill>
                <a:latin typeface="Georgia" panose="02040502050405020303" pitchFamily="18" charset="0"/>
              </a:rPr>
              <a:t>Keeping the website running after handover</a:t>
            </a:r>
            <a:endParaRPr lang="en-PH" sz="28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4496ED-ACF6-5264-D50F-6D7AE3727604}"/>
              </a:ext>
            </a:extLst>
          </p:cNvPr>
          <p:cNvCxnSpPr/>
          <p:nvPr/>
        </p:nvCxnSpPr>
        <p:spPr>
          <a:xfrm>
            <a:off x="762000" y="1397000"/>
            <a:ext cx="1524000" cy="0"/>
          </a:xfrm>
          <a:prstGeom prst="line">
            <a:avLst/>
          </a:prstGeom>
          <a:ln w="31750">
            <a:solidFill>
              <a:srgbClr val="C844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70B4B49-08BC-F784-4612-515C02297C36}"/>
              </a:ext>
            </a:extLst>
          </p:cNvPr>
          <p:cNvSpPr txBox="1"/>
          <p:nvPr/>
        </p:nvSpPr>
        <p:spPr>
          <a:xfrm>
            <a:off x="762000" y="1905000"/>
            <a:ext cx="5080000" cy="16808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Daily: confirm the owner has marked today's dishes available and set stock counts, so the site never advertises food that has already run out.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Weekly: clear every payment the cashier flagged for review against the real GCash history, so no sale stays unexplained.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Weekly: read best sellers, slow movers and net profit, then tell the owner which dishes to cook more or less of.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6841D-56F6-C76A-6ECA-6A9E1543E068}"/>
              </a:ext>
            </a:extLst>
          </p:cNvPr>
          <p:cNvSpPr txBox="1"/>
          <p:nvPr/>
        </p:nvSpPr>
        <p:spPr>
          <a:xfrm>
            <a:off x="6350000" y="1905000"/>
            <a:ext cx="5080000" cy="20491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Monthly: choose the next promotional code, set its discount and expiry, and announce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Monthly: export the database and keep the migration history in version control.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Monthly: re-run the role-separation and security tests, and rotate the staff passwords.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1300">
                <a:solidFill>
                  <a:srgbClr val="2A1810"/>
                </a:solidFill>
                <a:latin typeface="Calibri" panose="020F0502020204030204" pitchFamily="34" charset="0"/>
              </a:rPr>
              <a:t>•  Monthly: confirm the stored payment proofs still fit inside the free tier.</a:t>
            </a:r>
            <a:endParaRPr lang="en-PH" sz="1300">
              <a:solidFill>
                <a:srgbClr val="2A181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B99C8-5332-B8A2-1145-381E7C216F81}"/>
              </a:ext>
            </a:extLst>
          </p:cNvPr>
          <p:cNvSpPr txBox="1"/>
          <p:nvPr/>
        </p:nvSpPr>
        <p:spPr>
          <a:xfrm>
            <a:off x="762000" y="56134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2A1810"/>
                </a:solidFill>
                <a:latin typeface="Georgia" panose="02040502050405020303" pitchFamily="18" charset="0"/>
              </a:rPr>
              <a:t>Cost to keep the website running: nothing per month. No payment gateway, no paid hosting, and no printer.</a:t>
            </a:r>
            <a:endParaRPr lang="en-PH" sz="1400" b="1">
              <a:solidFill>
                <a:srgbClr val="2A181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F8A61-734F-A4FC-573A-D75C9D92A17A}"/>
              </a:ext>
            </a:extLst>
          </p:cNvPr>
          <p:cNvSpPr txBox="1"/>
          <p:nvPr/>
        </p:nvSpPr>
        <p:spPr>
          <a:xfrm>
            <a:off x="762000" y="6451600"/>
            <a:ext cx="660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B5546"/>
                </a:solidFill>
                <a:latin typeface="Calibri" panose="020F0502020204030204" pitchFamily="34" charset="0"/>
              </a:rPr>
              <a:t>Laboratory Exercise 3 - Bencris - Web Commercialization and E-Commerce</a:t>
            </a:r>
            <a:endParaRPr lang="en-PH" sz="900">
              <a:solidFill>
                <a:srgbClr val="6B554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0BE9A-1DFD-F56C-4500-B4892A41F5F5}"/>
              </a:ext>
            </a:extLst>
          </p:cNvPr>
          <p:cNvSpPr txBox="1"/>
          <p:nvPr/>
        </p:nvSpPr>
        <p:spPr>
          <a:xfrm>
            <a:off x="10947400" y="6451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900" b="1">
                <a:solidFill>
                  <a:srgbClr val="6B5546"/>
                </a:solidFill>
                <a:latin typeface="Consolas" panose="020B0609020204030204" pitchFamily="49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79503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258A1-DD3E-D976-91E7-E46F63A674B4}"/>
              </a:ext>
            </a:extLst>
          </p:cNvPr>
          <p:cNvSpPr txBox="1"/>
          <p:nvPr/>
        </p:nvSpPr>
        <p:spPr>
          <a:xfrm>
            <a:off x="889000" y="2159000"/>
            <a:ext cx="1016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200" b="1">
                <a:solidFill>
                  <a:srgbClr val="E8A84A"/>
                </a:solidFill>
                <a:latin typeface="Calibri" panose="020F0502020204030204" pitchFamily="34" charset="0"/>
              </a:rPr>
              <a:t>FROM NOTHING ONLINE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7E61F-E538-77A3-DA1D-D698491AE2E8}"/>
              </a:ext>
            </a:extLst>
          </p:cNvPr>
          <p:cNvSpPr txBox="1"/>
          <p:nvPr/>
        </p:nvSpPr>
        <p:spPr>
          <a:xfrm>
            <a:off x="889000" y="2616200"/>
            <a:ext cx="10414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E8DFC8"/>
                </a:solidFill>
                <a:latin typeface="Georgia" panose="02040502050405020303" pitchFamily="18" charset="0"/>
              </a:rPr>
              <a:t>A menu that tells the truth</a:t>
            </a:r>
          </a:p>
          <a:p>
            <a:r>
              <a:rPr lang="en-US" sz="3800" b="1">
                <a:solidFill>
                  <a:srgbClr val="E8DFC8"/>
                </a:solidFill>
                <a:latin typeface="Georgia" panose="02040502050405020303" pitchFamily="18" charset="0"/>
              </a:rPr>
              <a:t>before anyone leaves home.</a:t>
            </a:r>
            <a:endParaRPr lang="en-PH" sz="3800" b="1">
              <a:solidFill>
                <a:srgbClr val="E8DFC8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011079-02FF-F08B-94EE-8346C3903A92}"/>
              </a:ext>
            </a:extLst>
          </p:cNvPr>
          <p:cNvCxnSpPr/>
          <p:nvPr/>
        </p:nvCxnSpPr>
        <p:spPr>
          <a:xfrm>
            <a:off x="889000" y="4648200"/>
            <a:ext cx="1905000" cy="0"/>
          </a:xfrm>
          <a:prstGeom prst="line">
            <a:avLst/>
          </a:prstGeom>
          <a:ln w="38100">
            <a:solidFill>
              <a:srgbClr val="E8A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4BF790-2C00-6DEF-BF43-09756246049E}"/>
              </a:ext>
            </a:extLst>
          </p:cNvPr>
          <p:cNvSpPr txBox="1"/>
          <p:nvPr/>
        </p:nvSpPr>
        <p:spPr>
          <a:xfrm>
            <a:off x="889000" y="49530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A9A795"/>
                </a:solidFill>
                <a:latin typeface="Calibri" panose="020F0502020204030204" pitchFamily="34" charset="0"/>
              </a:rPr>
              <a:t>The live demonstration follows: browse the menu, place an order, settle it at the counter, and watch the sale appear on the owner dashboard.</a:t>
            </a:r>
            <a:endParaRPr lang="en-PH" sz="1400">
              <a:solidFill>
                <a:srgbClr val="A9A79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3F063-D554-DC56-53C4-3748BDE01257}"/>
              </a:ext>
            </a:extLst>
          </p:cNvPr>
          <p:cNvSpPr txBox="1"/>
          <p:nvPr/>
        </p:nvSpPr>
        <p:spPr>
          <a:xfrm>
            <a:off x="889000" y="57912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PH" sz="1600" b="1">
                <a:solidFill>
                  <a:srgbClr val="E8A84A"/>
                </a:solidFill>
                <a:latin typeface="Georgia" panose="02040502050405020303" pitchFamily="18" charset="0"/>
              </a:rPr>
              <a:t>Salamat po.</a:t>
            </a:r>
          </a:p>
        </p:txBody>
      </p:sp>
    </p:spTree>
    <p:extLst>
      <p:ext uri="{BB962C8B-B14F-4D97-AF65-F5344CB8AC3E}">
        <p14:creationId xmlns:p14="http://schemas.microsoft.com/office/powerpoint/2010/main" val="3621122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Office PowerPoint</Application>
  <PresentationFormat>Custom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Canlapan, Jhon Kyle</dc:creator>
  <cp:lastModifiedBy>Canlapan, Jhon Kyle</cp:lastModifiedBy>
  <cp:revision>1</cp:revision>
  <dcterms:created xsi:type="dcterms:W3CDTF">2026-08-04T13:49:30Z</dcterms:created>
  <dcterms:modified xsi:type="dcterms:W3CDTF">2026-08-04T13:49:30Z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2026-08-04T13:49:30Z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18788111-33ea-45e1-a87e-11adcee514f7</vt:lpwstr>
  </property>
  <property fmtid="{D5CDD505-2E9C-101B-9397-08002B2CF9AE}" pid="8" name="MSIP_Label_8a813f4b-519a-4481-a498-85770f517757_ContentBits">
    <vt:lpwstr>0</vt:lpwstr>
  </property>
  <property fmtid="{D5CDD505-2E9C-101B-9397-08002B2CF9AE}" pid="9" name="MSIP_Label_8a813f4b-519a-4481-a498-85770f517757_Tag">
    <vt:lpwstr>10, 3, 0, 1</vt:lpwstr>
  </property>
</Properties>
</file>